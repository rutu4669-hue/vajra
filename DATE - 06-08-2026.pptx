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21"/>
    <p:sldId id="269" r:id="rId22"/>
    <p:sldId id="270" r:id="rId23"/>
    <p:sldId id="271" r:id="rId24"/>
    <p:sldId id="272" r:id="rId25"/>
    <p:sldId id="273" r:id="rId26"/>
  </p:sldIdLst>
  <p:sldSz cx="18288000" cy="10287000"/>
  <p:notesSz cx="6858000" cy="9144000"/>
  <p:embeddedFontLst>
    <p:embeddedFont>
      <p:font typeface="Agrandir Bold" charset="1" panose="00000800000000000000"/>
      <p:regular r:id="rId18"/>
    </p:embeddedFont>
    <p:embeddedFont>
      <p:font typeface="Open Sauce" charset="1" panose="00000500000000000000"/>
      <p:regular r:id="rId19"/>
    </p:embeddedFont>
    <p:embeddedFont>
      <p:font typeface="Open Sauce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 Id="rId10" Type="http://schemas.openxmlformats.org/officeDocument/2006/relationships/image" Target="../media/image9.png"/><Relationship Id="rId11" Type="http://schemas.openxmlformats.org/officeDocument/2006/relationships/image" Target="../media/image10.svg"/><Relationship Id="rId12" Type="http://schemas.openxmlformats.org/officeDocument/2006/relationships/image" Target="../media/image11.png"/><Relationship Id="rId13" Type="http://schemas.openxmlformats.org/officeDocument/2006/relationships/image" Target="../media/image12.svg"/><Relationship Id="rId14" Type="http://schemas.openxmlformats.org/officeDocument/2006/relationships/image" Target="../media/image13.png"/><Relationship Id="rId15" Type="http://schemas.openxmlformats.org/officeDocument/2006/relationships/image" Target="../media/image14.svg"/><Relationship Id="rId16"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image" Target="../media/image20.png"/><Relationship Id="rId7" Type="http://schemas.openxmlformats.org/officeDocument/2006/relationships/image" Target="../media/image2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20.png"/><Relationship Id="rId7" Type="http://schemas.openxmlformats.org/officeDocument/2006/relationships/image" Target="../media/image21.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image" Target="../media/image20.png"/><Relationship Id="rId9" Type="http://schemas.openxmlformats.org/officeDocument/2006/relationships/image" Target="../media/image2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image" Target="../media/image26.png"/><Relationship Id="rId9" Type="http://schemas.openxmlformats.org/officeDocument/2006/relationships/image" Target="../media/image27.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20.png"/><Relationship Id="rId7" Type="http://schemas.openxmlformats.org/officeDocument/2006/relationships/image" Target="../media/image21.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image" Target="../media/image36.png"/><Relationship Id="rId7" Type="http://schemas.openxmlformats.org/officeDocument/2006/relationships/image" Target="../media/image3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image" Target="../media/image40.png"/><Relationship Id="rId5" Type="http://schemas.openxmlformats.org/officeDocument/2006/relationships/image" Target="../media/image20.png"/><Relationship Id="rId6" Type="http://schemas.openxmlformats.org/officeDocument/2006/relationships/image" Target="../media/image21.svg"/><Relationship Id="rId7" Type="http://schemas.openxmlformats.org/officeDocument/2006/relationships/image" Target="../media/image41.png"/><Relationship Id="rId8" Type="http://schemas.openxmlformats.org/officeDocument/2006/relationships/image" Target="../media/image4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image" Target="../media/image45.png"/><Relationship Id="rId5" Type="http://schemas.openxmlformats.org/officeDocument/2006/relationships/image" Target="../media/image46.svg"/><Relationship Id="rId6" Type="http://schemas.openxmlformats.org/officeDocument/2006/relationships/image" Target="../media/image20.png"/><Relationship Id="rId7" Type="http://schemas.openxmlformats.org/officeDocument/2006/relationships/image" Target="../media/image21.svg"/><Relationship Id="rId8" Type="http://schemas.openxmlformats.org/officeDocument/2006/relationships/image" Target="../media/image47.png"/><Relationship Id="rId9" Type="http://schemas.openxmlformats.org/officeDocument/2006/relationships/image" Target="../media/image48.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51.png"/><Relationship Id="rId5" Type="http://schemas.openxmlformats.org/officeDocument/2006/relationships/image" Target="../media/image52.svg"/><Relationship Id="rId6" Type="http://schemas.openxmlformats.org/officeDocument/2006/relationships/image" Target="../media/image20.png"/><Relationship Id="rId7" Type="http://schemas.openxmlformats.org/officeDocument/2006/relationships/image" Target="../media/image2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image" Target="../media/image20.png"/><Relationship Id="rId5" Type="http://schemas.openxmlformats.org/officeDocument/2006/relationships/image" Target="../media/image21.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image" Target="../media/image57.png"/><Relationship Id="rId5" Type="http://schemas.openxmlformats.org/officeDocument/2006/relationships/image" Target="../media/image58.svg"/><Relationship Id="rId6" Type="http://schemas.openxmlformats.org/officeDocument/2006/relationships/image" Target="../media/image59.png"/><Relationship Id="rId7" Type="http://schemas.openxmlformats.org/officeDocument/2006/relationships/image" Target="../media/image60.svg"/><Relationship Id="rId8" Type="http://schemas.openxmlformats.org/officeDocument/2006/relationships/image" Target="../media/image61.png"/><Relationship Id="rId9" Type="http://schemas.openxmlformats.org/officeDocument/2006/relationships/image" Target="../media/image62.svg"/><Relationship Id="rId10" Type="http://schemas.openxmlformats.org/officeDocument/2006/relationships/image" Target="../media/image63.png"/><Relationship Id="rId11" Type="http://schemas.openxmlformats.org/officeDocument/2006/relationships/image" Target="../media/image6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1555663" y="1742567"/>
            <a:ext cx="1862850" cy="3191800"/>
          </a:xfrm>
          <a:custGeom>
            <a:avLst/>
            <a:gdLst/>
            <a:ahLst/>
            <a:cxnLst/>
            <a:rect r="r" b="b" t="t" l="l"/>
            <a:pathLst>
              <a:path h="3191800" w="1862850">
                <a:moveTo>
                  <a:pt x="0" y="0"/>
                </a:moveTo>
                <a:lnTo>
                  <a:pt x="1862850" y="0"/>
                </a:lnTo>
                <a:lnTo>
                  <a:pt x="1862850" y="3191799"/>
                </a:lnTo>
                <a:lnTo>
                  <a:pt x="0" y="31917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0">
            <a:off x="15291458" y="3994361"/>
            <a:ext cx="933312" cy="1222507"/>
          </a:xfrm>
          <a:custGeom>
            <a:avLst/>
            <a:gdLst/>
            <a:ahLst/>
            <a:cxnLst/>
            <a:rect r="r" b="b" t="t" l="l"/>
            <a:pathLst>
              <a:path h="1222507" w="933312">
                <a:moveTo>
                  <a:pt x="933312" y="0"/>
                </a:moveTo>
                <a:lnTo>
                  <a:pt x="0" y="0"/>
                </a:lnTo>
                <a:lnTo>
                  <a:pt x="0" y="1222507"/>
                </a:lnTo>
                <a:lnTo>
                  <a:pt x="933312" y="1222507"/>
                </a:lnTo>
                <a:lnTo>
                  <a:pt x="933312" y="0"/>
                </a:lnTo>
                <a:close/>
              </a:path>
            </a:pathLst>
          </a:custGeom>
          <a:blipFill>
            <a:blip r:embed="rId4">
              <a:extLst>
                <a:ext uri="{96DAC541-7B7A-43D3-8B79-37D633B846F1}">
                  <asvg:svgBlip xmlns:asvg="http://schemas.microsoft.com/office/drawing/2016/SVG/main" r:embed="rId5"/>
                </a:ext>
              </a:extLst>
            </a:blip>
            <a:stretch>
              <a:fillRect l="-91051" t="-68065" r="-446276" b="-348554"/>
            </a:stretch>
          </a:blipFill>
          <a:ln cap="sq">
            <a:noFill/>
            <a:prstDash val="solid"/>
            <a:miter/>
          </a:ln>
        </p:spPr>
      </p:sp>
      <p:sp>
        <p:nvSpPr>
          <p:cNvPr name="TextBox 4" id="4"/>
          <p:cNvSpPr txBox="true"/>
          <p:nvPr/>
        </p:nvSpPr>
        <p:spPr>
          <a:xfrm rot="0">
            <a:off x="3445381" y="2842685"/>
            <a:ext cx="11397238" cy="1426571"/>
          </a:xfrm>
          <a:prstGeom prst="rect">
            <a:avLst/>
          </a:prstGeom>
        </p:spPr>
        <p:txBody>
          <a:bodyPr anchor="t" rtlCol="false" tIns="0" lIns="0" bIns="0" rIns="0">
            <a:spAutoFit/>
          </a:bodyPr>
          <a:lstStyle/>
          <a:p>
            <a:pPr algn="ctr" marL="0" indent="0" lvl="0">
              <a:lnSpc>
                <a:spcPts val="10095"/>
              </a:lnSpc>
              <a:spcBef>
                <a:spcPct val="0"/>
              </a:spcBef>
            </a:pPr>
            <a:r>
              <a:rPr lang="en-US" b="true" sz="7210" spc="-144" strike="noStrike" u="none">
                <a:solidFill>
                  <a:srgbClr val="2B598F"/>
                </a:solidFill>
                <a:latin typeface="Agrandir Bold"/>
                <a:ea typeface="Agrandir Bold"/>
                <a:cs typeface="Agrandir Bold"/>
                <a:sym typeface="Agrandir Bold"/>
              </a:rPr>
              <a:t>VAJRA -</a:t>
            </a:r>
          </a:p>
        </p:txBody>
      </p:sp>
      <p:sp>
        <p:nvSpPr>
          <p:cNvPr name="Freeform 5" id="5"/>
          <p:cNvSpPr/>
          <p:nvPr/>
        </p:nvSpPr>
        <p:spPr>
          <a:xfrm flipH="false" flipV="false" rot="0">
            <a:off x="4552484" y="5611403"/>
            <a:ext cx="2100584" cy="2100584"/>
          </a:xfrm>
          <a:custGeom>
            <a:avLst/>
            <a:gdLst/>
            <a:ahLst/>
            <a:cxnLst/>
            <a:rect r="r" b="b" t="t" l="l"/>
            <a:pathLst>
              <a:path h="2100584" w="2100584">
                <a:moveTo>
                  <a:pt x="0" y="0"/>
                </a:moveTo>
                <a:lnTo>
                  <a:pt x="2100583" y="0"/>
                </a:lnTo>
                <a:lnTo>
                  <a:pt x="2100583" y="2100584"/>
                </a:lnTo>
                <a:lnTo>
                  <a:pt x="0" y="21005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3993810" y="5212403"/>
            <a:ext cx="3265490" cy="2499584"/>
          </a:xfrm>
          <a:custGeom>
            <a:avLst/>
            <a:gdLst/>
            <a:ahLst/>
            <a:cxnLst/>
            <a:rect r="r" b="b" t="t" l="l"/>
            <a:pathLst>
              <a:path h="2499584" w="3265490">
                <a:moveTo>
                  <a:pt x="0" y="0"/>
                </a:moveTo>
                <a:lnTo>
                  <a:pt x="3265490" y="0"/>
                </a:lnTo>
                <a:lnTo>
                  <a:pt x="3265490" y="2499584"/>
                </a:lnTo>
                <a:lnTo>
                  <a:pt x="0" y="24995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3536898" y="2934898"/>
            <a:ext cx="443425" cy="564360"/>
          </a:xfrm>
          <a:custGeom>
            <a:avLst/>
            <a:gdLst/>
            <a:ahLst/>
            <a:cxnLst/>
            <a:rect r="r" b="b" t="t" l="l"/>
            <a:pathLst>
              <a:path h="564360" w="443425">
                <a:moveTo>
                  <a:pt x="0" y="0"/>
                </a:moveTo>
                <a:lnTo>
                  <a:pt x="443425" y="0"/>
                </a:lnTo>
                <a:lnTo>
                  <a:pt x="443425" y="564360"/>
                </a:lnTo>
                <a:lnTo>
                  <a:pt x="0" y="564360"/>
                </a:lnTo>
                <a:lnTo>
                  <a:pt x="0" y="0"/>
                </a:lnTo>
                <a:close/>
              </a:path>
            </a:pathLst>
          </a:custGeom>
          <a:blipFill>
            <a:blip r:embed="rId10">
              <a:extLst>
                <a:ext uri="{96DAC541-7B7A-43D3-8B79-37D633B846F1}">
                  <asvg:svgBlip xmlns:asvg="http://schemas.microsoft.com/office/drawing/2016/SVG/main" r:embed="rId11"/>
                </a:ext>
              </a:extLst>
            </a:blip>
            <a:stretch>
              <a:fillRect l="-604510" t="-42365" r="-436404" b="-800346"/>
            </a:stretch>
          </a:blipFill>
        </p:spPr>
      </p:sp>
      <p:sp>
        <p:nvSpPr>
          <p:cNvPr name="Freeform 8" id="8"/>
          <p:cNvSpPr/>
          <p:nvPr/>
        </p:nvSpPr>
        <p:spPr>
          <a:xfrm flipH="false" flipV="false" rot="0">
            <a:off x="13873683" y="-736495"/>
            <a:ext cx="2835550" cy="2835550"/>
          </a:xfrm>
          <a:custGeom>
            <a:avLst/>
            <a:gdLst/>
            <a:ahLst/>
            <a:cxnLst/>
            <a:rect r="r" b="b" t="t" l="l"/>
            <a:pathLst>
              <a:path h="2835550" w="2835550">
                <a:moveTo>
                  <a:pt x="0" y="0"/>
                </a:moveTo>
                <a:lnTo>
                  <a:pt x="2835550" y="0"/>
                </a:lnTo>
                <a:lnTo>
                  <a:pt x="2835550" y="2835551"/>
                </a:lnTo>
                <a:lnTo>
                  <a:pt x="0" y="283555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6764616" y="4224913"/>
            <a:ext cx="494684" cy="610793"/>
          </a:xfrm>
          <a:custGeom>
            <a:avLst/>
            <a:gdLst/>
            <a:ahLst/>
            <a:cxnLst/>
            <a:rect r="r" b="b" t="t" l="l"/>
            <a:pathLst>
              <a:path h="610793" w="494684">
                <a:moveTo>
                  <a:pt x="0" y="0"/>
                </a:moveTo>
                <a:lnTo>
                  <a:pt x="494684" y="0"/>
                </a:lnTo>
                <a:lnTo>
                  <a:pt x="494684" y="610793"/>
                </a:lnTo>
                <a:lnTo>
                  <a:pt x="0" y="610793"/>
                </a:lnTo>
                <a:lnTo>
                  <a:pt x="0" y="0"/>
                </a:lnTo>
                <a:close/>
              </a:path>
            </a:pathLst>
          </a:custGeom>
          <a:blipFill>
            <a:blip r:embed="rId14">
              <a:extLst>
                <a:ext uri="{96DAC541-7B7A-43D3-8B79-37D633B846F1}">
                  <asvg:svgBlip xmlns:asvg="http://schemas.microsoft.com/office/drawing/2016/SVG/main" r:embed="rId15"/>
                </a:ext>
              </a:extLst>
            </a:blip>
            <a:stretch>
              <a:fillRect l="-283918" t="-193372" r="-944089" b="-484941"/>
            </a:stretch>
          </a:blipFill>
        </p:spPr>
      </p:sp>
      <p:sp>
        <p:nvSpPr>
          <p:cNvPr name="Freeform 10" id="10"/>
          <p:cNvSpPr/>
          <p:nvPr/>
        </p:nvSpPr>
        <p:spPr>
          <a:xfrm flipH="false" flipV="false" rot="0">
            <a:off x="7680442" y="6244240"/>
            <a:ext cx="2927117" cy="3014060"/>
          </a:xfrm>
          <a:custGeom>
            <a:avLst/>
            <a:gdLst/>
            <a:ahLst/>
            <a:cxnLst/>
            <a:rect r="r" b="b" t="t" l="l"/>
            <a:pathLst>
              <a:path h="3014060" w="2927117">
                <a:moveTo>
                  <a:pt x="0" y="0"/>
                </a:moveTo>
                <a:lnTo>
                  <a:pt x="2927116" y="0"/>
                </a:lnTo>
                <a:lnTo>
                  <a:pt x="2927116" y="3014060"/>
                </a:lnTo>
                <a:lnTo>
                  <a:pt x="0" y="3014060"/>
                </a:lnTo>
                <a:lnTo>
                  <a:pt x="0" y="0"/>
                </a:lnTo>
                <a:close/>
              </a:path>
            </a:pathLst>
          </a:custGeom>
          <a:blipFill>
            <a:blip r:embed="rId16"/>
            <a:stretch>
              <a:fillRect l="-1485" t="0" r="-1485" b="0"/>
            </a:stretch>
          </a:blipFill>
        </p:spPr>
      </p:sp>
      <p:sp>
        <p:nvSpPr>
          <p:cNvPr name="TextBox 11" id="11"/>
          <p:cNvSpPr txBox="true"/>
          <p:nvPr/>
        </p:nvSpPr>
        <p:spPr>
          <a:xfrm rot="0">
            <a:off x="4436524" y="4454706"/>
            <a:ext cx="9414952" cy="1596709"/>
          </a:xfrm>
          <a:prstGeom prst="rect">
            <a:avLst/>
          </a:prstGeom>
        </p:spPr>
        <p:txBody>
          <a:bodyPr anchor="t" rtlCol="false" tIns="0" lIns="0" bIns="0" rIns="0">
            <a:spAutoFit/>
          </a:bodyPr>
          <a:lstStyle/>
          <a:p>
            <a:pPr algn="ctr" marL="0" indent="0" lvl="0">
              <a:lnSpc>
                <a:spcPts val="11266"/>
              </a:lnSpc>
            </a:pPr>
            <a:r>
              <a:rPr lang="en-US" b="true" sz="8047" spc="-160">
                <a:solidFill>
                  <a:srgbClr val="181D2B"/>
                </a:solidFill>
                <a:latin typeface="Agrandir Bold"/>
                <a:ea typeface="Agrandir Bold"/>
                <a:cs typeface="Agrandir Bold"/>
                <a:sym typeface="Agrandir Bold"/>
              </a:rPr>
              <a:t>Security &amp; Analysis</a:t>
            </a:r>
          </a:p>
        </p:txBody>
      </p:sp>
      <p:sp>
        <p:nvSpPr>
          <p:cNvPr name="TextBox 12" id="12"/>
          <p:cNvSpPr txBox="true"/>
          <p:nvPr/>
        </p:nvSpPr>
        <p:spPr>
          <a:xfrm rot="0">
            <a:off x="14273745" y="9210675"/>
            <a:ext cx="2968736" cy="423573"/>
          </a:xfrm>
          <a:prstGeom prst="rect">
            <a:avLst/>
          </a:prstGeom>
        </p:spPr>
        <p:txBody>
          <a:bodyPr anchor="t" rtlCol="false" tIns="0" lIns="0" bIns="0" rIns="0">
            <a:spAutoFit/>
          </a:bodyPr>
          <a:lstStyle/>
          <a:p>
            <a:pPr algn="ctr">
              <a:lnSpc>
                <a:spcPts val="3533"/>
              </a:lnSpc>
              <a:spcBef>
                <a:spcPct val="0"/>
              </a:spcBef>
            </a:pPr>
            <a:r>
              <a:rPr lang="en-US" sz="2524">
                <a:solidFill>
                  <a:srgbClr val="000000"/>
                </a:solidFill>
                <a:latin typeface="Open Sauce"/>
                <a:ea typeface="Open Sauce"/>
                <a:cs typeface="Open Sauce"/>
                <a:sym typeface="Open Sauce"/>
              </a:rPr>
              <a:t>DATE - 06-08-2026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grpSp>
        <p:nvGrpSpPr>
          <p:cNvPr name="Group 2" id="2"/>
          <p:cNvGrpSpPr/>
          <p:nvPr/>
        </p:nvGrpSpPr>
        <p:grpSpPr>
          <a:xfrm rot="0">
            <a:off x="7296100" y="3386707"/>
            <a:ext cx="223376" cy="22337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5" id="5"/>
          <p:cNvGrpSpPr/>
          <p:nvPr/>
        </p:nvGrpSpPr>
        <p:grpSpPr>
          <a:xfrm rot="0">
            <a:off x="7296100" y="3946039"/>
            <a:ext cx="223376" cy="22337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8" id="8"/>
          <p:cNvGrpSpPr/>
          <p:nvPr/>
        </p:nvGrpSpPr>
        <p:grpSpPr>
          <a:xfrm rot="0">
            <a:off x="7296100" y="4505371"/>
            <a:ext cx="223376" cy="22337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11" id="11"/>
          <p:cNvGrpSpPr/>
          <p:nvPr/>
        </p:nvGrpSpPr>
        <p:grpSpPr>
          <a:xfrm rot="0">
            <a:off x="7296100" y="5064703"/>
            <a:ext cx="223376" cy="22337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14" id="14"/>
          <p:cNvGrpSpPr/>
          <p:nvPr/>
        </p:nvGrpSpPr>
        <p:grpSpPr>
          <a:xfrm rot="0">
            <a:off x="7296100" y="5624035"/>
            <a:ext cx="223376" cy="22337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17" id="17"/>
          <p:cNvGrpSpPr/>
          <p:nvPr/>
        </p:nvGrpSpPr>
        <p:grpSpPr>
          <a:xfrm rot="0">
            <a:off x="13357271" y="3386707"/>
            <a:ext cx="223376" cy="22337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20" id="20"/>
          <p:cNvGrpSpPr/>
          <p:nvPr/>
        </p:nvGrpSpPr>
        <p:grpSpPr>
          <a:xfrm rot="0">
            <a:off x="13357271" y="3946039"/>
            <a:ext cx="223376" cy="22337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23" id="23"/>
          <p:cNvGrpSpPr/>
          <p:nvPr/>
        </p:nvGrpSpPr>
        <p:grpSpPr>
          <a:xfrm rot="0">
            <a:off x="13357271" y="4505371"/>
            <a:ext cx="223376" cy="22337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26" id="26"/>
          <p:cNvGrpSpPr/>
          <p:nvPr/>
        </p:nvGrpSpPr>
        <p:grpSpPr>
          <a:xfrm rot="0">
            <a:off x="13357271" y="5064703"/>
            <a:ext cx="223376" cy="223376"/>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29" id="29"/>
          <p:cNvGrpSpPr/>
          <p:nvPr/>
        </p:nvGrpSpPr>
        <p:grpSpPr>
          <a:xfrm rot="0">
            <a:off x="13357271" y="5624035"/>
            <a:ext cx="223376" cy="22337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sp>
        <p:nvSpPr>
          <p:cNvPr name="Freeform 32" id="32"/>
          <p:cNvSpPr/>
          <p:nvPr/>
        </p:nvSpPr>
        <p:spPr>
          <a:xfrm flipH="false" flipV="false" rot="-5400000">
            <a:off x="-2524664" y="1886340"/>
            <a:ext cx="12568167" cy="5461440"/>
          </a:xfrm>
          <a:custGeom>
            <a:avLst/>
            <a:gdLst/>
            <a:ahLst/>
            <a:cxnLst/>
            <a:rect r="r" b="b" t="t" l="l"/>
            <a:pathLst>
              <a:path h="5461440" w="12568167">
                <a:moveTo>
                  <a:pt x="0" y="0"/>
                </a:moveTo>
                <a:lnTo>
                  <a:pt x="12568167" y="0"/>
                </a:lnTo>
                <a:lnTo>
                  <a:pt x="12568167" y="5461439"/>
                </a:lnTo>
                <a:lnTo>
                  <a:pt x="0" y="5461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3" id="33"/>
          <p:cNvSpPr/>
          <p:nvPr/>
        </p:nvSpPr>
        <p:spPr>
          <a:xfrm flipH="false" flipV="false" rot="0">
            <a:off x="1809683" y="2495188"/>
            <a:ext cx="3899474" cy="4622222"/>
          </a:xfrm>
          <a:custGeom>
            <a:avLst/>
            <a:gdLst/>
            <a:ahLst/>
            <a:cxnLst/>
            <a:rect r="r" b="b" t="t" l="l"/>
            <a:pathLst>
              <a:path h="4622222" w="3899474">
                <a:moveTo>
                  <a:pt x="0" y="0"/>
                </a:moveTo>
                <a:lnTo>
                  <a:pt x="3899474" y="0"/>
                </a:lnTo>
                <a:lnTo>
                  <a:pt x="3899474" y="4622222"/>
                </a:lnTo>
                <a:lnTo>
                  <a:pt x="0" y="46222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34" id="34"/>
          <p:cNvSpPr txBox="true"/>
          <p:nvPr/>
        </p:nvSpPr>
        <p:spPr>
          <a:xfrm rot="0">
            <a:off x="7758784" y="3145121"/>
            <a:ext cx="3711056" cy="2874095"/>
          </a:xfrm>
          <a:prstGeom prst="rect">
            <a:avLst/>
          </a:prstGeom>
        </p:spPr>
        <p:txBody>
          <a:bodyPr anchor="t" rtlCol="false" tIns="0" lIns="0" bIns="0" rIns="0">
            <a:spAutoFit/>
          </a:bodyPr>
          <a:lstStyle/>
          <a:p>
            <a:pPr algn="l" marL="0" indent="0" lvl="0">
              <a:lnSpc>
                <a:spcPts val="4577"/>
              </a:lnSpc>
            </a:pPr>
            <a:r>
              <a:rPr lang="en-US" sz="2860" spc="14">
                <a:solidFill>
                  <a:srgbClr val="181D2B"/>
                </a:solidFill>
                <a:latin typeface="Open Sauce"/>
                <a:ea typeface="Open Sauce"/>
                <a:cs typeface="Open Sauce"/>
                <a:sym typeface="Open Sauce"/>
              </a:rPr>
              <a:t>Introduction</a:t>
            </a:r>
          </a:p>
          <a:p>
            <a:pPr algn="l" marL="0" indent="0" lvl="0">
              <a:lnSpc>
                <a:spcPts val="4577"/>
              </a:lnSpc>
            </a:pPr>
            <a:r>
              <a:rPr lang="en-US" sz="2860" spc="14">
                <a:solidFill>
                  <a:srgbClr val="181D2B"/>
                </a:solidFill>
                <a:latin typeface="Open Sauce"/>
                <a:ea typeface="Open Sauce"/>
                <a:cs typeface="Open Sauce"/>
                <a:sym typeface="Open Sauce"/>
              </a:rPr>
              <a:t>Project Objectives</a:t>
            </a:r>
          </a:p>
          <a:p>
            <a:pPr algn="l" marL="0" indent="0" lvl="0">
              <a:lnSpc>
                <a:spcPts val="4577"/>
              </a:lnSpc>
            </a:pPr>
            <a:r>
              <a:rPr lang="en-US" sz="2860" spc="14">
                <a:solidFill>
                  <a:srgbClr val="181D2B"/>
                </a:solidFill>
                <a:latin typeface="Open Sauce"/>
                <a:ea typeface="Open Sauce"/>
                <a:cs typeface="Open Sauce"/>
                <a:sym typeface="Open Sauce"/>
              </a:rPr>
              <a:t>System Architecture</a:t>
            </a:r>
          </a:p>
          <a:p>
            <a:pPr algn="l" marL="0" indent="0" lvl="0">
              <a:lnSpc>
                <a:spcPts val="4577"/>
              </a:lnSpc>
            </a:pPr>
            <a:r>
              <a:rPr lang="en-US" sz="2860" spc="14">
                <a:solidFill>
                  <a:srgbClr val="181D2B"/>
                </a:solidFill>
                <a:latin typeface="Open Sauce"/>
                <a:ea typeface="Open Sauce"/>
                <a:cs typeface="Open Sauce"/>
                <a:sym typeface="Open Sauce"/>
              </a:rPr>
              <a:t>Key Features</a:t>
            </a:r>
          </a:p>
          <a:p>
            <a:pPr algn="l" marL="0" indent="0" lvl="0">
              <a:lnSpc>
                <a:spcPts val="4577"/>
              </a:lnSpc>
            </a:pPr>
            <a:r>
              <a:rPr lang="en-US" sz="2860" spc="14">
                <a:solidFill>
                  <a:srgbClr val="181D2B"/>
                </a:solidFill>
                <a:latin typeface="Open Sauce"/>
                <a:ea typeface="Open Sauce"/>
                <a:cs typeface="Open Sauce"/>
                <a:sym typeface="Open Sauce"/>
              </a:rPr>
              <a:t>Methodology</a:t>
            </a:r>
          </a:p>
        </p:txBody>
      </p:sp>
      <p:sp>
        <p:nvSpPr>
          <p:cNvPr name="TextBox 35" id="35"/>
          <p:cNvSpPr txBox="true"/>
          <p:nvPr/>
        </p:nvSpPr>
        <p:spPr>
          <a:xfrm rot="0">
            <a:off x="7296100" y="1258023"/>
            <a:ext cx="6801827" cy="802020"/>
          </a:xfrm>
          <a:prstGeom prst="rect">
            <a:avLst/>
          </a:prstGeom>
        </p:spPr>
        <p:txBody>
          <a:bodyPr anchor="t" rtlCol="false" tIns="0" lIns="0" bIns="0" rIns="0">
            <a:spAutoFit/>
          </a:bodyPr>
          <a:lstStyle/>
          <a:p>
            <a:pPr algn="l" marL="0" indent="0" lvl="0">
              <a:lnSpc>
                <a:spcPts val="5669"/>
              </a:lnSpc>
            </a:pPr>
            <a:r>
              <a:rPr lang="en-US" b="true" sz="4049">
                <a:solidFill>
                  <a:srgbClr val="2B598F"/>
                </a:solidFill>
                <a:latin typeface="Agrandir Bold"/>
                <a:ea typeface="Agrandir Bold"/>
                <a:cs typeface="Agrandir Bold"/>
                <a:sym typeface="Agrandir Bold"/>
              </a:rPr>
              <a:t>Overview</a:t>
            </a:r>
          </a:p>
        </p:txBody>
      </p:sp>
      <p:sp>
        <p:nvSpPr>
          <p:cNvPr name="TextBox 36" id="36"/>
          <p:cNvSpPr txBox="true"/>
          <p:nvPr/>
        </p:nvSpPr>
        <p:spPr>
          <a:xfrm rot="0">
            <a:off x="13818772" y="3145121"/>
            <a:ext cx="3440528" cy="2874095"/>
          </a:xfrm>
          <a:prstGeom prst="rect">
            <a:avLst/>
          </a:prstGeom>
        </p:spPr>
        <p:txBody>
          <a:bodyPr anchor="t" rtlCol="false" tIns="0" lIns="0" bIns="0" rIns="0">
            <a:spAutoFit/>
          </a:bodyPr>
          <a:lstStyle/>
          <a:p>
            <a:pPr algn="l" marL="0" indent="0" lvl="0">
              <a:lnSpc>
                <a:spcPts val="4577"/>
              </a:lnSpc>
            </a:pPr>
            <a:r>
              <a:rPr lang="en-US" sz="2860" spc="14">
                <a:solidFill>
                  <a:srgbClr val="181D2B"/>
                </a:solidFill>
                <a:latin typeface="Open Sauce"/>
                <a:ea typeface="Open Sauce"/>
                <a:cs typeface="Open Sauce"/>
                <a:sym typeface="Open Sauce"/>
              </a:rPr>
              <a:t>Implementation</a:t>
            </a:r>
          </a:p>
          <a:p>
            <a:pPr algn="l" marL="0" indent="0" lvl="0">
              <a:lnSpc>
                <a:spcPts val="4577"/>
              </a:lnSpc>
            </a:pPr>
            <a:r>
              <a:rPr lang="en-US" sz="2860" spc="14">
                <a:solidFill>
                  <a:srgbClr val="181D2B"/>
                </a:solidFill>
                <a:latin typeface="Open Sauce"/>
                <a:ea typeface="Open Sauce"/>
                <a:cs typeface="Open Sauce"/>
                <a:sym typeface="Open Sauce"/>
              </a:rPr>
              <a:t>Results &amp; Analysis</a:t>
            </a:r>
          </a:p>
          <a:p>
            <a:pPr algn="l" marL="0" indent="0" lvl="0">
              <a:lnSpc>
                <a:spcPts val="4577"/>
              </a:lnSpc>
            </a:pPr>
            <a:r>
              <a:rPr lang="en-US" sz="2860" spc="14">
                <a:solidFill>
                  <a:srgbClr val="181D2B"/>
                </a:solidFill>
                <a:latin typeface="Open Sauce"/>
                <a:ea typeface="Open Sauce"/>
                <a:cs typeface="Open Sauce"/>
                <a:sym typeface="Open Sauce"/>
              </a:rPr>
              <a:t>Security Insights</a:t>
            </a:r>
          </a:p>
          <a:p>
            <a:pPr algn="l" marL="0" indent="0" lvl="0">
              <a:lnSpc>
                <a:spcPts val="4577"/>
              </a:lnSpc>
            </a:pPr>
            <a:r>
              <a:rPr lang="en-US" sz="2860" spc="14">
                <a:solidFill>
                  <a:srgbClr val="181D2B"/>
                </a:solidFill>
                <a:latin typeface="Open Sauce"/>
                <a:ea typeface="Open Sauce"/>
                <a:cs typeface="Open Sauce"/>
                <a:sym typeface="Open Sauce"/>
              </a:rPr>
              <a:t>Conclusion</a:t>
            </a:r>
          </a:p>
          <a:p>
            <a:pPr algn="l" marL="0" indent="0" lvl="0">
              <a:lnSpc>
                <a:spcPts val="4577"/>
              </a:lnSpc>
            </a:pPr>
            <a:r>
              <a:rPr lang="en-US" sz="2860" spc="14">
                <a:solidFill>
                  <a:srgbClr val="181D2B"/>
                </a:solidFill>
                <a:latin typeface="Open Sauce"/>
                <a:ea typeface="Open Sauce"/>
                <a:cs typeface="Open Sauce"/>
                <a:sym typeface="Open Sauce"/>
              </a:rPr>
              <a:t>References</a:t>
            </a:r>
          </a:p>
        </p:txBody>
      </p:sp>
      <p:sp>
        <p:nvSpPr>
          <p:cNvPr name="Freeform 37" id="37"/>
          <p:cNvSpPr/>
          <p:nvPr/>
        </p:nvSpPr>
        <p:spPr>
          <a:xfrm flipH="false" flipV="false" rot="0">
            <a:off x="16562179" y="8474217"/>
            <a:ext cx="697121" cy="784083"/>
          </a:xfrm>
          <a:custGeom>
            <a:avLst/>
            <a:gdLst/>
            <a:ahLst/>
            <a:cxnLst/>
            <a:rect r="r" b="b" t="t" l="l"/>
            <a:pathLst>
              <a:path h="784083" w="697121">
                <a:moveTo>
                  <a:pt x="0" y="0"/>
                </a:moveTo>
                <a:lnTo>
                  <a:pt x="697121" y="0"/>
                </a:lnTo>
                <a:lnTo>
                  <a:pt x="697121" y="784083"/>
                </a:lnTo>
                <a:lnTo>
                  <a:pt x="0" y="7840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38" id="38"/>
          <p:cNvSpPr txBox="true"/>
          <p:nvPr/>
        </p:nvSpPr>
        <p:spPr>
          <a:xfrm rot="0">
            <a:off x="13818772" y="8471677"/>
            <a:ext cx="2432042" cy="198120"/>
          </a:xfrm>
          <a:prstGeom prst="rect">
            <a:avLst/>
          </a:prstGeom>
        </p:spPr>
        <p:txBody>
          <a:bodyPr anchor="t" rtlCol="false" tIns="0" lIns="0" bIns="0" rIns="0">
            <a:spAutoFit/>
          </a:bodyPr>
          <a:lstStyle/>
          <a:p>
            <a:pPr algn="r" marL="0" indent="0" lvl="0">
              <a:lnSpc>
                <a:spcPts val="1679"/>
              </a:lnSpc>
            </a:pPr>
            <a:r>
              <a:rPr lang="en-US" sz="1200" spc="6">
                <a:solidFill>
                  <a:srgbClr val="181D2B"/>
                </a:solidFill>
                <a:latin typeface="Open Sauce"/>
                <a:ea typeface="Open Sauce"/>
                <a:cs typeface="Open Sauce"/>
                <a:sym typeface="Open Sauce"/>
              </a:rPr>
              <a:t>Project</a:t>
            </a:r>
          </a:p>
        </p:txBody>
      </p:sp>
      <p:sp>
        <p:nvSpPr>
          <p:cNvPr name="TextBox 39" id="39"/>
          <p:cNvSpPr txBox="true"/>
          <p:nvPr/>
        </p:nvSpPr>
        <p:spPr>
          <a:xfrm rot="0">
            <a:off x="13847347" y="8761131"/>
            <a:ext cx="2432042" cy="453049"/>
          </a:xfrm>
          <a:prstGeom prst="rect">
            <a:avLst/>
          </a:prstGeom>
        </p:spPr>
        <p:txBody>
          <a:bodyPr anchor="t" rtlCol="false" tIns="0" lIns="0" bIns="0" rIns="0">
            <a:spAutoFit/>
          </a:bodyPr>
          <a:lstStyle/>
          <a:p>
            <a:pPr algn="r" marL="0" indent="0" lvl="0">
              <a:lnSpc>
                <a:spcPts val="1803"/>
              </a:lnSpc>
            </a:pPr>
            <a:r>
              <a:rPr lang="en-US" b="true" sz="1288" spc="6">
                <a:solidFill>
                  <a:srgbClr val="181D2B"/>
                </a:solidFill>
                <a:latin typeface="Open Sauce Bold"/>
                <a:ea typeface="Open Sauce Bold"/>
                <a:cs typeface="Open Sauce Bold"/>
                <a:sym typeface="Open Sauce Bold"/>
              </a:rPr>
              <a:t>VAJRA - SECURITY AND ANALYSIS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true" flipV="false" rot="-5400000">
            <a:off x="8856179" y="2513730"/>
            <a:ext cx="11923595" cy="8953536"/>
          </a:xfrm>
          <a:custGeom>
            <a:avLst/>
            <a:gdLst/>
            <a:ahLst/>
            <a:cxnLst/>
            <a:rect r="r" b="b" t="t" l="l"/>
            <a:pathLst>
              <a:path h="8953536" w="11923595">
                <a:moveTo>
                  <a:pt x="11923595" y="0"/>
                </a:moveTo>
                <a:lnTo>
                  <a:pt x="0" y="0"/>
                </a:lnTo>
                <a:lnTo>
                  <a:pt x="0" y="8953536"/>
                </a:lnTo>
                <a:lnTo>
                  <a:pt x="11923595" y="8953536"/>
                </a:lnTo>
                <a:lnTo>
                  <a:pt x="11923595"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1060740" y="1884219"/>
            <a:ext cx="6198560" cy="6518562"/>
          </a:xfrm>
          <a:custGeom>
            <a:avLst/>
            <a:gdLst/>
            <a:ahLst/>
            <a:cxnLst/>
            <a:rect r="r" b="b" t="t" l="l"/>
            <a:pathLst>
              <a:path h="6518562" w="6198560">
                <a:moveTo>
                  <a:pt x="0" y="0"/>
                </a:moveTo>
                <a:lnTo>
                  <a:pt x="6198560" y="0"/>
                </a:lnTo>
                <a:lnTo>
                  <a:pt x="6198560" y="6518562"/>
                </a:lnTo>
                <a:lnTo>
                  <a:pt x="0" y="65185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028700" y="8474217"/>
            <a:ext cx="697121" cy="784083"/>
          </a:xfrm>
          <a:custGeom>
            <a:avLst/>
            <a:gdLst/>
            <a:ahLst/>
            <a:cxnLst/>
            <a:rect r="r" b="b" t="t" l="l"/>
            <a:pathLst>
              <a:path h="784083" w="697121">
                <a:moveTo>
                  <a:pt x="0" y="0"/>
                </a:moveTo>
                <a:lnTo>
                  <a:pt x="697121" y="0"/>
                </a:lnTo>
                <a:lnTo>
                  <a:pt x="697121" y="784083"/>
                </a:lnTo>
                <a:lnTo>
                  <a:pt x="0" y="7840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1028700" y="1457915"/>
            <a:ext cx="8621502" cy="1767362"/>
          </a:xfrm>
          <a:prstGeom prst="rect">
            <a:avLst/>
          </a:prstGeom>
        </p:spPr>
        <p:txBody>
          <a:bodyPr anchor="t" rtlCol="false" tIns="0" lIns="0" bIns="0" rIns="0">
            <a:spAutoFit/>
          </a:bodyPr>
          <a:lstStyle/>
          <a:p>
            <a:pPr algn="l" marL="0" indent="0" lvl="0">
              <a:lnSpc>
                <a:spcPts val="12311"/>
              </a:lnSpc>
              <a:spcBef>
                <a:spcPct val="0"/>
              </a:spcBef>
            </a:pPr>
            <a:r>
              <a:rPr lang="en-US" b="true" sz="8793" strike="noStrike" u="none">
                <a:solidFill>
                  <a:srgbClr val="2B598F"/>
                </a:solidFill>
                <a:latin typeface="Agrandir Bold"/>
                <a:ea typeface="Agrandir Bold"/>
                <a:cs typeface="Agrandir Bold"/>
                <a:sym typeface="Agrandir Bold"/>
              </a:rPr>
              <a:t>Introduction</a:t>
            </a:r>
          </a:p>
        </p:txBody>
      </p:sp>
      <p:sp>
        <p:nvSpPr>
          <p:cNvPr name="TextBox 6" id="6"/>
          <p:cNvSpPr txBox="true"/>
          <p:nvPr/>
        </p:nvSpPr>
        <p:spPr>
          <a:xfrm rot="0">
            <a:off x="1028700" y="3483629"/>
            <a:ext cx="8621502" cy="4403806"/>
          </a:xfrm>
          <a:prstGeom prst="rect">
            <a:avLst/>
          </a:prstGeom>
        </p:spPr>
        <p:txBody>
          <a:bodyPr anchor="t" rtlCol="false" tIns="0" lIns="0" bIns="0" rIns="0">
            <a:spAutoFit/>
          </a:bodyPr>
          <a:lstStyle/>
          <a:p>
            <a:pPr algn="l" marL="0" indent="0" lvl="0">
              <a:lnSpc>
                <a:spcPts val="3540"/>
              </a:lnSpc>
              <a:spcBef>
                <a:spcPct val="0"/>
              </a:spcBef>
            </a:pPr>
            <a:r>
              <a:rPr lang="en-US" sz="2529" spc="12" strike="noStrike" u="none">
                <a:solidFill>
                  <a:srgbClr val="181D2B"/>
                </a:solidFill>
                <a:latin typeface="Open Sauce"/>
                <a:ea typeface="Open Sauce"/>
                <a:cs typeface="Open Sauce"/>
                <a:sym typeface="Open Sauce"/>
              </a:rPr>
              <a:t>VAJRA - Security and Analysis is a comprehensive cybersecurity project designed to identify, monitor, and mitigate digital threats in real time. Developed in response to the growing need for robust security frameworks, VAJRA integrates advanced threat intelligence, vulnerability assessment, and behavioral analytics. The project aims to provide organizations with a proactive defense mechanism, enabling faster incident response and stronger data protection across critical infrastructure.</a:t>
            </a:r>
          </a:p>
        </p:txBody>
      </p:sp>
      <p:sp>
        <p:nvSpPr>
          <p:cNvPr name="TextBox 7" id="7"/>
          <p:cNvSpPr txBox="true"/>
          <p:nvPr/>
        </p:nvSpPr>
        <p:spPr>
          <a:xfrm rot="0">
            <a:off x="1377260" y="8625447"/>
            <a:ext cx="2432042" cy="453049"/>
          </a:xfrm>
          <a:prstGeom prst="rect">
            <a:avLst/>
          </a:prstGeom>
        </p:spPr>
        <p:txBody>
          <a:bodyPr anchor="t" rtlCol="false" tIns="0" lIns="0" bIns="0" rIns="0">
            <a:spAutoFit/>
          </a:bodyPr>
          <a:lstStyle/>
          <a:p>
            <a:pPr algn="r" marL="0" indent="0" lvl="0">
              <a:lnSpc>
                <a:spcPts val="1803"/>
              </a:lnSpc>
            </a:pPr>
            <a:r>
              <a:rPr lang="en-US" b="true" sz="1288" spc="6">
                <a:solidFill>
                  <a:srgbClr val="181D2B"/>
                </a:solidFill>
                <a:latin typeface="Open Sauce Bold"/>
                <a:ea typeface="Open Sauce Bold"/>
                <a:cs typeface="Open Sauce Bold"/>
                <a:sym typeface="Open Sauce Bold"/>
              </a:rPr>
              <a:t>VAJRA - SECURITY AND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13299025" y="2121870"/>
            <a:ext cx="6095650" cy="6095650"/>
          </a:xfrm>
          <a:custGeom>
            <a:avLst/>
            <a:gdLst/>
            <a:ahLst/>
            <a:cxnLst/>
            <a:rect r="r" b="b" t="t" l="l"/>
            <a:pathLst>
              <a:path h="6095650" w="6095650">
                <a:moveTo>
                  <a:pt x="0" y="0"/>
                </a:moveTo>
                <a:lnTo>
                  <a:pt x="6095649" y="0"/>
                </a:lnTo>
                <a:lnTo>
                  <a:pt x="6095649" y="6095650"/>
                </a:lnTo>
                <a:lnTo>
                  <a:pt x="0" y="6095650"/>
                </a:lnTo>
                <a:lnTo>
                  <a:pt x="0" y="0"/>
                </a:lnTo>
                <a:close/>
              </a:path>
            </a:pathLst>
          </a:custGeom>
          <a:blipFill>
            <a:blip r:embed="rId2">
              <a:extLst>
                <a:ext uri="{96DAC541-7B7A-43D3-8B79-37D633B846F1}">
                  <asvg:svgBlip xmlns:asvg="http://schemas.microsoft.com/office/drawing/2016/SVG/main" r:embed="rId3"/>
                </a:ext>
              </a:extLst>
            </a:blip>
            <a:stretch>
              <a:fillRect l="-31923" t="-30783" r="-30783" b="-31923"/>
            </a:stretch>
          </a:blipFill>
          <a:ln cap="rnd">
            <a:noFill/>
            <a:prstDash val="solid"/>
            <a:round/>
          </a:ln>
        </p:spPr>
      </p:sp>
      <p:sp>
        <p:nvSpPr>
          <p:cNvPr name="Freeform 3" id="3"/>
          <p:cNvSpPr/>
          <p:nvPr/>
        </p:nvSpPr>
        <p:spPr>
          <a:xfrm flipH="false" flipV="false" rot="-1431390">
            <a:off x="12962909" y="4704441"/>
            <a:ext cx="4919870" cy="4114800"/>
          </a:xfrm>
          <a:custGeom>
            <a:avLst/>
            <a:gdLst/>
            <a:ahLst/>
            <a:cxnLst/>
            <a:rect r="r" b="b" t="t" l="l"/>
            <a:pathLst>
              <a:path h="4114800" w="4919870">
                <a:moveTo>
                  <a:pt x="0" y="0"/>
                </a:moveTo>
                <a:lnTo>
                  <a:pt x="4919870" y="0"/>
                </a:lnTo>
                <a:lnTo>
                  <a:pt x="491987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86335" y="2669704"/>
            <a:ext cx="11867075" cy="2167257"/>
            <a:chOff x="0" y="0"/>
            <a:chExt cx="3131419" cy="571884"/>
          </a:xfrm>
        </p:grpSpPr>
        <p:sp>
          <p:nvSpPr>
            <p:cNvPr name="Freeform 5" id="5"/>
            <p:cNvSpPr/>
            <p:nvPr/>
          </p:nvSpPr>
          <p:spPr>
            <a:xfrm flipH="false" flipV="false" rot="0">
              <a:off x="0" y="0"/>
              <a:ext cx="3131419" cy="571884"/>
            </a:xfrm>
            <a:custGeom>
              <a:avLst/>
              <a:gdLst/>
              <a:ahLst/>
              <a:cxnLst/>
              <a:rect r="r" b="b" t="t" l="l"/>
              <a:pathLst>
                <a:path h="571884" w="3131419">
                  <a:moveTo>
                    <a:pt x="18919" y="0"/>
                  </a:moveTo>
                  <a:lnTo>
                    <a:pt x="3112500" y="0"/>
                  </a:lnTo>
                  <a:cubicBezTo>
                    <a:pt x="3122948" y="0"/>
                    <a:pt x="3131419" y="8470"/>
                    <a:pt x="3131419" y="18919"/>
                  </a:cubicBezTo>
                  <a:lnTo>
                    <a:pt x="3131419" y="552965"/>
                  </a:lnTo>
                  <a:cubicBezTo>
                    <a:pt x="3131419" y="557982"/>
                    <a:pt x="3129425" y="562794"/>
                    <a:pt x="3125877" y="566342"/>
                  </a:cubicBezTo>
                  <a:cubicBezTo>
                    <a:pt x="3122329" y="569891"/>
                    <a:pt x="3117517" y="571884"/>
                    <a:pt x="3112500" y="571884"/>
                  </a:cubicBezTo>
                  <a:lnTo>
                    <a:pt x="18919" y="571884"/>
                  </a:lnTo>
                  <a:cubicBezTo>
                    <a:pt x="13902" y="571884"/>
                    <a:pt x="9089" y="569891"/>
                    <a:pt x="5541" y="566342"/>
                  </a:cubicBezTo>
                  <a:cubicBezTo>
                    <a:pt x="1993" y="562794"/>
                    <a:pt x="0" y="557982"/>
                    <a:pt x="0" y="552965"/>
                  </a:cubicBezTo>
                  <a:lnTo>
                    <a:pt x="0" y="18919"/>
                  </a:lnTo>
                  <a:cubicBezTo>
                    <a:pt x="0" y="13902"/>
                    <a:pt x="1993" y="9089"/>
                    <a:pt x="5541" y="5541"/>
                  </a:cubicBezTo>
                  <a:cubicBezTo>
                    <a:pt x="9089" y="1993"/>
                    <a:pt x="13902" y="0"/>
                    <a:pt x="18919" y="0"/>
                  </a:cubicBezTo>
                  <a:close/>
                </a:path>
              </a:pathLst>
            </a:custGeom>
            <a:solidFill>
              <a:srgbClr val="FFFFFE"/>
            </a:solidFill>
            <a:ln w="19050" cap="rnd">
              <a:solidFill>
                <a:srgbClr val="181D2B"/>
              </a:solidFill>
              <a:prstDash val="solid"/>
              <a:round/>
            </a:ln>
          </p:spPr>
        </p:sp>
        <p:sp>
          <p:nvSpPr>
            <p:cNvPr name="TextBox 6" id="6"/>
            <p:cNvSpPr txBox="true"/>
            <p:nvPr/>
          </p:nvSpPr>
          <p:spPr>
            <a:xfrm>
              <a:off x="0" y="-38100"/>
              <a:ext cx="3131419" cy="609984"/>
            </a:xfrm>
            <a:prstGeom prst="rect">
              <a:avLst/>
            </a:prstGeom>
          </p:spPr>
          <p:txBody>
            <a:bodyPr anchor="ctr" rtlCol="false" tIns="50704" lIns="50704" bIns="50704" rIns="50704"/>
            <a:lstStyle/>
            <a:p>
              <a:pPr algn="ctr" marL="0" indent="0" lvl="0">
                <a:lnSpc>
                  <a:spcPts val="3135"/>
                </a:lnSpc>
              </a:pPr>
            </a:p>
          </p:txBody>
        </p:sp>
      </p:grpSp>
      <p:sp>
        <p:nvSpPr>
          <p:cNvPr name="TextBox 7" id="7"/>
          <p:cNvSpPr txBox="true"/>
          <p:nvPr/>
        </p:nvSpPr>
        <p:spPr>
          <a:xfrm rot="0">
            <a:off x="2192121" y="3063689"/>
            <a:ext cx="11048426" cy="1260155"/>
          </a:xfrm>
          <a:prstGeom prst="rect">
            <a:avLst/>
          </a:prstGeom>
        </p:spPr>
        <p:txBody>
          <a:bodyPr anchor="t" rtlCol="false" tIns="0" lIns="0" bIns="0" rIns="0">
            <a:spAutoFit/>
          </a:bodyPr>
          <a:lstStyle/>
          <a:p>
            <a:pPr algn="l" marL="0" indent="0" lvl="0">
              <a:lnSpc>
                <a:spcPts val="3383"/>
              </a:lnSpc>
              <a:spcBef>
                <a:spcPct val="0"/>
              </a:spcBef>
            </a:pPr>
            <a:r>
              <a:rPr lang="en-US" sz="2416" spc="12" strike="noStrike" u="none">
                <a:solidFill>
                  <a:srgbClr val="181D2B"/>
                </a:solidFill>
                <a:latin typeface="Open Sauce"/>
                <a:ea typeface="Open Sauce"/>
                <a:cs typeface="Open Sauce"/>
                <a:sym typeface="Open Sauce"/>
              </a:rPr>
              <a:t>To design and develop VAJRA as a comprehensive security and analysis platform capable of real-time threat detection, vulnerability assessment, and intelligent monitoring of network infrastructure and system endpoints.</a:t>
            </a:r>
          </a:p>
        </p:txBody>
      </p:sp>
      <p:sp>
        <p:nvSpPr>
          <p:cNvPr name="Freeform 8" id="8"/>
          <p:cNvSpPr/>
          <p:nvPr/>
        </p:nvSpPr>
        <p:spPr>
          <a:xfrm flipH="false" flipV="false" rot="0">
            <a:off x="1028700" y="3661953"/>
            <a:ext cx="586747" cy="223355"/>
          </a:xfrm>
          <a:custGeom>
            <a:avLst/>
            <a:gdLst/>
            <a:ahLst/>
            <a:cxnLst/>
            <a:rect r="r" b="b" t="t" l="l"/>
            <a:pathLst>
              <a:path h="223355" w="586747">
                <a:moveTo>
                  <a:pt x="0" y="0"/>
                </a:moveTo>
                <a:lnTo>
                  <a:pt x="586747" y="0"/>
                </a:lnTo>
                <a:lnTo>
                  <a:pt x="586747" y="223356"/>
                </a:lnTo>
                <a:lnTo>
                  <a:pt x="0" y="2233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786335" y="5096134"/>
            <a:ext cx="11867075" cy="2167257"/>
            <a:chOff x="0" y="0"/>
            <a:chExt cx="3131419" cy="571884"/>
          </a:xfrm>
        </p:grpSpPr>
        <p:sp>
          <p:nvSpPr>
            <p:cNvPr name="Freeform 10" id="10"/>
            <p:cNvSpPr/>
            <p:nvPr/>
          </p:nvSpPr>
          <p:spPr>
            <a:xfrm flipH="false" flipV="false" rot="0">
              <a:off x="0" y="0"/>
              <a:ext cx="3131419" cy="571884"/>
            </a:xfrm>
            <a:custGeom>
              <a:avLst/>
              <a:gdLst/>
              <a:ahLst/>
              <a:cxnLst/>
              <a:rect r="r" b="b" t="t" l="l"/>
              <a:pathLst>
                <a:path h="571884" w="3131419">
                  <a:moveTo>
                    <a:pt x="18919" y="0"/>
                  </a:moveTo>
                  <a:lnTo>
                    <a:pt x="3112500" y="0"/>
                  </a:lnTo>
                  <a:cubicBezTo>
                    <a:pt x="3122948" y="0"/>
                    <a:pt x="3131419" y="8470"/>
                    <a:pt x="3131419" y="18919"/>
                  </a:cubicBezTo>
                  <a:lnTo>
                    <a:pt x="3131419" y="552965"/>
                  </a:lnTo>
                  <a:cubicBezTo>
                    <a:pt x="3131419" y="557982"/>
                    <a:pt x="3129425" y="562794"/>
                    <a:pt x="3125877" y="566342"/>
                  </a:cubicBezTo>
                  <a:cubicBezTo>
                    <a:pt x="3122329" y="569891"/>
                    <a:pt x="3117517" y="571884"/>
                    <a:pt x="3112500" y="571884"/>
                  </a:cubicBezTo>
                  <a:lnTo>
                    <a:pt x="18919" y="571884"/>
                  </a:lnTo>
                  <a:cubicBezTo>
                    <a:pt x="13902" y="571884"/>
                    <a:pt x="9089" y="569891"/>
                    <a:pt x="5541" y="566342"/>
                  </a:cubicBezTo>
                  <a:cubicBezTo>
                    <a:pt x="1993" y="562794"/>
                    <a:pt x="0" y="557982"/>
                    <a:pt x="0" y="552965"/>
                  </a:cubicBezTo>
                  <a:lnTo>
                    <a:pt x="0" y="18919"/>
                  </a:lnTo>
                  <a:cubicBezTo>
                    <a:pt x="0" y="13902"/>
                    <a:pt x="1993" y="9089"/>
                    <a:pt x="5541" y="5541"/>
                  </a:cubicBezTo>
                  <a:cubicBezTo>
                    <a:pt x="9089" y="1993"/>
                    <a:pt x="13902" y="0"/>
                    <a:pt x="18919" y="0"/>
                  </a:cubicBezTo>
                  <a:close/>
                </a:path>
              </a:pathLst>
            </a:custGeom>
            <a:solidFill>
              <a:srgbClr val="FFFFFE"/>
            </a:solidFill>
            <a:ln w="19050" cap="rnd">
              <a:solidFill>
                <a:srgbClr val="181D2B"/>
              </a:solidFill>
              <a:prstDash val="solid"/>
              <a:round/>
            </a:ln>
          </p:spPr>
        </p:sp>
        <p:sp>
          <p:nvSpPr>
            <p:cNvPr name="TextBox 11" id="11"/>
            <p:cNvSpPr txBox="true"/>
            <p:nvPr/>
          </p:nvSpPr>
          <p:spPr>
            <a:xfrm>
              <a:off x="0" y="-38100"/>
              <a:ext cx="3131419" cy="609984"/>
            </a:xfrm>
            <a:prstGeom prst="rect">
              <a:avLst/>
            </a:prstGeom>
          </p:spPr>
          <p:txBody>
            <a:bodyPr anchor="ctr" rtlCol="false" tIns="50704" lIns="50704" bIns="50704" rIns="50704"/>
            <a:lstStyle/>
            <a:p>
              <a:pPr algn="ctr" marL="0" indent="0" lvl="0">
                <a:lnSpc>
                  <a:spcPts val="3135"/>
                </a:lnSpc>
              </a:pPr>
            </a:p>
          </p:txBody>
        </p:sp>
      </p:grpSp>
      <p:sp>
        <p:nvSpPr>
          <p:cNvPr name="TextBox 12" id="12"/>
          <p:cNvSpPr txBox="true"/>
          <p:nvPr/>
        </p:nvSpPr>
        <p:spPr>
          <a:xfrm rot="0">
            <a:off x="2192121" y="5490120"/>
            <a:ext cx="11048426" cy="1260155"/>
          </a:xfrm>
          <a:prstGeom prst="rect">
            <a:avLst/>
          </a:prstGeom>
        </p:spPr>
        <p:txBody>
          <a:bodyPr anchor="t" rtlCol="false" tIns="0" lIns="0" bIns="0" rIns="0">
            <a:spAutoFit/>
          </a:bodyPr>
          <a:lstStyle/>
          <a:p>
            <a:pPr algn="l" marL="0" indent="0" lvl="0">
              <a:lnSpc>
                <a:spcPts val="3383"/>
              </a:lnSpc>
              <a:spcBef>
                <a:spcPct val="0"/>
              </a:spcBef>
            </a:pPr>
            <a:r>
              <a:rPr lang="en-US" sz="2416" spc="12" strike="noStrike" u="none">
                <a:solidFill>
                  <a:srgbClr val="181D2B"/>
                </a:solidFill>
                <a:latin typeface="Open Sauce"/>
                <a:ea typeface="Open Sauce"/>
                <a:cs typeface="Open Sauce"/>
                <a:sym typeface="Open Sauce"/>
              </a:rPr>
              <a:t>To implement advanced analytical algorithms and reporting mechanisms that enable security teams to proactively identify, classify, and respond to cyber threats, ensuring robust protection of critical digital assets.</a:t>
            </a:r>
          </a:p>
        </p:txBody>
      </p:sp>
      <p:sp>
        <p:nvSpPr>
          <p:cNvPr name="Freeform 13" id="13"/>
          <p:cNvSpPr/>
          <p:nvPr/>
        </p:nvSpPr>
        <p:spPr>
          <a:xfrm flipH="false" flipV="false" rot="0">
            <a:off x="1028700" y="6088384"/>
            <a:ext cx="586747" cy="223355"/>
          </a:xfrm>
          <a:custGeom>
            <a:avLst/>
            <a:gdLst/>
            <a:ahLst/>
            <a:cxnLst/>
            <a:rect r="r" b="b" t="t" l="l"/>
            <a:pathLst>
              <a:path h="223355" w="586747">
                <a:moveTo>
                  <a:pt x="0" y="0"/>
                </a:moveTo>
                <a:lnTo>
                  <a:pt x="586747" y="0"/>
                </a:lnTo>
                <a:lnTo>
                  <a:pt x="586747" y="223355"/>
                </a:lnTo>
                <a:lnTo>
                  <a:pt x="0" y="2233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028700" y="8474217"/>
            <a:ext cx="697121" cy="784083"/>
          </a:xfrm>
          <a:custGeom>
            <a:avLst/>
            <a:gdLst/>
            <a:ahLst/>
            <a:cxnLst/>
            <a:rect r="r" b="b" t="t" l="l"/>
            <a:pathLst>
              <a:path h="784083" w="697121">
                <a:moveTo>
                  <a:pt x="0" y="0"/>
                </a:moveTo>
                <a:lnTo>
                  <a:pt x="697121" y="0"/>
                </a:lnTo>
                <a:lnTo>
                  <a:pt x="697121" y="784083"/>
                </a:lnTo>
                <a:lnTo>
                  <a:pt x="0" y="7840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15" id="15"/>
          <p:cNvSpPr txBox="true"/>
          <p:nvPr/>
        </p:nvSpPr>
        <p:spPr>
          <a:xfrm rot="0">
            <a:off x="1963430" y="8445642"/>
            <a:ext cx="3817770" cy="345646"/>
          </a:xfrm>
          <a:prstGeom prst="rect">
            <a:avLst/>
          </a:prstGeom>
        </p:spPr>
        <p:txBody>
          <a:bodyPr anchor="t" rtlCol="false" tIns="0" lIns="0" bIns="0" rIns="0">
            <a:spAutoFit/>
          </a:bodyPr>
          <a:lstStyle/>
          <a:p>
            <a:pPr algn="l" marL="0" indent="0" lvl="0">
              <a:lnSpc>
                <a:spcPts val="2998"/>
              </a:lnSpc>
            </a:pPr>
            <a:r>
              <a:rPr lang="en-US" sz="2141" spc="10">
                <a:solidFill>
                  <a:srgbClr val="181D2B"/>
                </a:solidFill>
                <a:latin typeface="Open Sauce"/>
                <a:ea typeface="Open Sauce"/>
                <a:cs typeface="Open Sauce"/>
                <a:sym typeface="Open Sauce"/>
              </a:rPr>
              <a:t>Project Lead</a:t>
            </a:r>
          </a:p>
        </p:txBody>
      </p:sp>
      <p:sp>
        <p:nvSpPr>
          <p:cNvPr name="TextBox 16" id="16"/>
          <p:cNvSpPr txBox="true"/>
          <p:nvPr/>
        </p:nvSpPr>
        <p:spPr>
          <a:xfrm rot="0">
            <a:off x="1963430" y="8750935"/>
            <a:ext cx="3817770" cy="490905"/>
          </a:xfrm>
          <a:prstGeom prst="rect">
            <a:avLst/>
          </a:prstGeom>
        </p:spPr>
        <p:txBody>
          <a:bodyPr anchor="t" rtlCol="false" tIns="0" lIns="0" bIns="0" rIns="0">
            <a:spAutoFit/>
          </a:bodyPr>
          <a:lstStyle/>
          <a:p>
            <a:pPr algn="l" marL="0" indent="0" lvl="0">
              <a:lnSpc>
                <a:spcPts val="3917"/>
              </a:lnSpc>
            </a:pPr>
            <a:r>
              <a:rPr lang="en-US" b="true" sz="2798" spc="13">
                <a:solidFill>
                  <a:srgbClr val="181D2B"/>
                </a:solidFill>
                <a:latin typeface="Open Sauce Bold"/>
                <a:ea typeface="Open Sauce Bold"/>
                <a:cs typeface="Open Sauce Bold"/>
                <a:sym typeface="Open Sauce Bold"/>
              </a:rPr>
              <a:t>VAJRA Security Team</a:t>
            </a:r>
          </a:p>
        </p:txBody>
      </p:sp>
      <p:sp>
        <p:nvSpPr>
          <p:cNvPr name="TextBox 17" id="17"/>
          <p:cNvSpPr txBox="true"/>
          <p:nvPr/>
        </p:nvSpPr>
        <p:spPr>
          <a:xfrm rot="0">
            <a:off x="1028700" y="600075"/>
            <a:ext cx="12270325" cy="1767362"/>
          </a:xfrm>
          <a:prstGeom prst="rect">
            <a:avLst/>
          </a:prstGeom>
        </p:spPr>
        <p:txBody>
          <a:bodyPr anchor="t" rtlCol="false" tIns="0" lIns="0" bIns="0" rIns="0">
            <a:spAutoFit/>
          </a:bodyPr>
          <a:lstStyle/>
          <a:p>
            <a:pPr algn="l" marL="0" indent="0" lvl="0">
              <a:lnSpc>
                <a:spcPts val="12311"/>
              </a:lnSpc>
              <a:spcBef>
                <a:spcPct val="0"/>
              </a:spcBef>
            </a:pPr>
            <a:r>
              <a:rPr lang="en-US" b="true" sz="8793" strike="noStrike" u="none">
                <a:solidFill>
                  <a:srgbClr val="2B598F"/>
                </a:solidFill>
                <a:latin typeface="Agrandir Bold"/>
                <a:ea typeface="Agrandir Bold"/>
                <a:cs typeface="Agrandir Bold"/>
                <a:sym typeface="Agrandir Bold"/>
              </a:rPr>
              <a:t>Research Objectives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510279" y="2121870"/>
            <a:ext cx="6095650" cy="6095650"/>
          </a:xfrm>
          <a:custGeom>
            <a:avLst/>
            <a:gdLst/>
            <a:ahLst/>
            <a:cxnLst/>
            <a:rect r="r" b="b" t="t" l="l"/>
            <a:pathLst>
              <a:path h="6095650" w="6095650">
                <a:moveTo>
                  <a:pt x="0" y="0"/>
                </a:moveTo>
                <a:lnTo>
                  <a:pt x="6095650" y="0"/>
                </a:lnTo>
                <a:lnTo>
                  <a:pt x="6095650" y="6095650"/>
                </a:lnTo>
                <a:lnTo>
                  <a:pt x="0" y="6095650"/>
                </a:lnTo>
                <a:lnTo>
                  <a:pt x="0" y="0"/>
                </a:lnTo>
                <a:close/>
              </a:path>
            </a:pathLst>
          </a:custGeom>
          <a:blipFill>
            <a:blip r:embed="rId2">
              <a:extLst>
                <a:ext uri="{96DAC541-7B7A-43D3-8B79-37D633B846F1}">
                  <asvg:svgBlip xmlns:asvg="http://schemas.microsoft.com/office/drawing/2016/SVG/main" r:embed="rId3"/>
                </a:ext>
              </a:extLst>
            </a:blip>
            <a:stretch>
              <a:fillRect l="-31923" t="-30783" r="-30783" b="-31923"/>
            </a:stretch>
          </a:blipFill>
          <a:ln cap="rnd">
            <a:noFill/>
            <a:prstDash val="solid"/>
            <a:round/>
          </a:ln>
        </p:spPr>
      </p:sp>
      <p:sp>
        <p:nvSpPr>
          <p:cNvPr name="TextBox 3" id="3"/>
          <p:cNvSpPr txBox="true"/>
          <p:nvPr/>
        </p:nvSpPr>
        <p:spPr>
          <a:xfrm rot="0">
            <a:off x="2879338" y="600075"/>
            <a:ext cx="12529324" cy="1767362"/>
          </a:xfrm>
          <a:prstGeom prst="rect">
            <a:avLst/>
          </a:prstGeom>
        </p:spPr>
        <p:txBody>
          <a:bodyPr anchor="t" rtlCol="false" tIns="0" lIns="0" bIns="0" rIns="0">
            <a:spAutoFit/>
          </a:bodyPr>
          <a:lstStyle/>
          <a:p>
            <a:pPr algn="ctr" marL="0" indent="0" lvl="0">
              <a:lnSpc>
                <a:spcPts val="12311"/>
              </a:lnSpc>
              <a:spcBef>
                <a:spcPct val="0"/>
              </a:spcBef>
            </a:pPr>
            <a:r>
              <a:rPr lang="en-US" b="true" sz="8793" strike="noStrike" u="none">
                <a:solidFill>
                  <a:srgbClr val="2B598F"/>
                </a:solidFill>
                <a:latin typeface="Agrandir Bold"/>
                <a:ea typeface="Agrandir Bold"/>
                <a:cs typeface="Agrandir Bold"/>
                <a:sym typeface="Agrandir Bold"/>
              </a:rPr>
              <a:t>Research Questions</a:t>
            </a:r>
          </a:p>
        </p:txBody>
      </p:sp>
      <p:sp>
        <p:nvSpPr>
          <p:cNvPr name="Freeform 4" id="4"/>
          <p:cNvSpPr/>
          <p:nvPr/>
        </p:nvSpPr>
        <p:spPr>
          <a:xfrm flipH="false" flipV="false" rot="0">
            <a:off x="16562179" y="8474217"/>
            <a:ext cx="697121" cy="784083"/>
          </a:xfrm>
          <a:custGeom>
            <a:avLst/>
            <a:gdLst/>
            <a:ahLst/>
            <a:cxnLst/>
            <a:rect r="r" b="b" t="t" l="l"/>
            <a:pathLst>
              <a:path h="784083" w="697121">
                <a:moveTo>
                  <a:pt x="0" y="0"/>
                </a:moveTo>
                <a:lnTo>
                  <a:pt x="697121" y="0"/>
                </a:lnTo>
                <a:lnTo>
                  <a:pt x="697121" y="784083"/>
                </a:lnTo>
                <a:lnTo>
                  <a:pt x="0" y="7840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5" id="5"/>
          <p:cNvSpPr txBox="true"/>
          <p:nvPr/>
        </p:nvSpPr>
        <p:spPr>
          <a:xfrm rot="0">
            <a:off x="13818772" y="8462152"/>
            <a:ext cx="2432042" cy="288756"/>
          </a:xfrm>
          <a:prstGeom prst="rect">
            <a:avLst/>
          </a:prstGeom>
        </p:spPr>
        <p:txBody>
          <a:bodyPr anchor="t" rtlCol="false" tIns="0" lIns="0" bIns="0" rIns="0">
            <a:spAutoFit/>
          </a:bodyPr>
          <a:lstStyle/>
          <a:p>
            <a:pPr algn="r" marL="0" indent="0" lvl="0">
              <a:lnSpc>
                <a:spcPts val="2459"/>
              </a:lnSpc>
            </a:pPr>
            <a:r>
              <a:rPr lang="en-US" sz="1756" spc="8">
                <a:solidFill>
                  <a:srgbClr val="181D2B"/>
                </a:solidFill>
                <a:latin typeface="Open Sauce"/>
                <a:ea typeface="Open Sauce"/>
                <a:cs typeface="Open Sauce"/>
                <a:sym typeface="Open Sauce"/>
              </a:rPr>
              <a:t>Researcher</a:t>
            </a:r>
          </a:p>
        </p:txBody>
      </p:sp>
      <p:sp>
        <p:nvSpPr>
          <p:cNvPr name="TextBox 6" id="6"/>
          <p:cNvSpPr txBox="true"/>
          <p:nvPr/>
        </p:nvSpPr>
        <p:spPr>
          <a:xfrm rot="0">
            <a:off x="13818772" y="8723031"/>
            <a:ext cx="2432042" cy="490905"/>
          </a:xfrm>
          <a:prstGeom prst="rect">
            <a:avLst/>
          </a:prstGeom>
        </p:spPr>
        <p:txBody>
          <a:bodyPr anchor="t" rtlCol="false" tIns="0" lIns="0" bIns="0" rIns="0">
            <a:spAutoFit/>
          </a:bodyPr>
          <a:lstStyle/>
          <a:p>
            <a:pPr algn="r" marL="0" indent="0" lvl="0">
              <a:lnSpc>
                <a:spcPts val="3917"/>
              </a:lnSpc>
            </a:pPr>
            <a:r>
              <a:rPr lang="en-US" b="true" sz="2798" spc="13">
                <a:solidFill>
                  <a:srgbClr val="181D2B"/>
                </a:solidFill>
                <a:latin typeface="Open Sauce Bold"/>
                <a:ea typeface="Open Sauce Bold"/>
                <a:cs typeface="Open Sauce Bold"/>
                <a:sym typeface="Open Sauce Bold"/>
              </a:rPr>
              <a:t>VAJRA Team</a:t>
            </a:r>
          </a:p>
        </p:txBody>
      </p:sp>
      <p:grpSp>
        <p:nvGrpSpPr>
          <p:cNvPr name="Group 7" id="7"/>
          <p:cNvGrpSpPr/>
          <p:nvPr/>
        </p:nvGrpSpPr>
        <p:grpSpPr>
          <a:xfrm rot="0">
            <a:off x="5900989" y="2643550"/>
            <a:ext cx="10863414" cy="2167257"/>
            <a:chOff x="0" y="0"/>
            <a:chExt cx="2866578" cy="571884"/>
          </a:xfrm>
        </p:grpSpPr>
        <p:sp>
          <p:nvSpPr>
            <p:cNvPr name="Freeform 8" id="8"/>
            <p:cNvSpPr/>
            <p:nvPr/>
          </p:nvSpPr>
          <p:spPr>
            <a:xfrm flipH="false" flipV="false" rot="0">
              <a:off x="0" y="0"/>
              <a:ext cx="2866578" cy="571884"/>
            </a:xfrm>
            <a:custGeom>
              <a:avLst/>
              <a:gdLst/>
              <a:ahLst/>
              <a:cxnLst/>
              <a:rect r="r" b="b" t="t" l="l"/>
              <a:pathLst>
                <a:path h="571884" w="2866578">
                  <a:moveTo>
                    <a:pt x="20667" y="0"/>
                  </a:moveTo>
                  <a:lnTo>
                    <a:pt x="2845911" y="0"/>
                  </a:lnTo>
                  <a:cubicBezTo>
                    <a:pt x="2857325" y="0"/>
                    <a:pt x="2866578" y="9253"/>
                    <a:pt x="2866578" y="20667"/>
                  </a:cubicBezTo>
                  <a:lnTo>
                    <a:pt x="2866578" y="551217"/>
                  </a:lnTo>
                  <a:cubicBezTo>
                    <a:pt x="2866578" y="556698"/>
                    <a:pt x="2864401" y="561955"/>
                    <a:pt x="2860525" y="565831"/>
                  </a:cubicBezTo>
                  <a:cubicBezTo>
                    <a:pt x="2856649" y="569706"/>
                    <a:pt x="2851392" y="571884"/>
                    <a:pt x="2845911" y="571884"/>
                  </a:cubicBezTo>
                  <a:lnTo>
                    <a:pt x="20667" y="571884"/>
                  </a:lnTo>
                  <a:cubicBezTo>
                    <a:pt x="15186" y="571884"/>
                    <a:pt x="9929" y="569706"/>
                    <a:pt x="6053" y="565831"/>
                  </a:cubicBezTo>
                  <a:cubicBezTo>
                    <a:pt x="2177" y="561955"/>
                    <a:pt x="0" y="556698"/>
                    <a:pt x="0" y="551217"/>
                  </a:cubicBezTo>
                  <a:lnTo>
                    <a:pt x="0" y="20667"/>
                  </a:lnTo>
                  <a:cubicBezTo>
                    <a:pt x="0" y="15186"/>
                    <a:pt x="2177" y="9929"/>
                    <a:pt x="6053" y="6053"/>
                  </a:cubicBezTo>
                  <a:cubicBezTo>
                    <a:pt x="9929" y="2177"/>
                    <a:pt x="15186" y="0"/>
                    <a:pt x="20667" y="0"/>
                  </a:cubicBezTo>
                  <a:close/>
                </a:path>
              </a:pathLst>
            </a:custGeom>
            <a:solidFill>
              <a:srgbClr val="FFFFFE"/>
            </a:solidFill>
            <a:ln w="19050" cap="rnd">
              <a:solidFill>
                <a:srgbClr val="181D2B"/>
              </a:solidFill>
              <a:prstDash val="solid"/>
              <a:round/>
            </a:ln>
          </p:spPr>
        </p:sp>
        <p:sp>
          <p:nvSpPr>
            <p:cNvPr name="TextBox 9" id="9"/>
            <p:cNvSpPr txBox="true"/>
            <p:nvPr/>
          </p:nvSpPr>
          <p:spPr>
            <a:xfrm>
              <a:off x="0" y="-38100"/>
              <a:ext cx="2866578" cy="609984"/>
            </a:xfrm>
            <a:prstGeom prst="rect">
              <a:avLst/>
            </a:prstGeom>
          </p:spPr>
          <p:txBody>
            <a:bodyPr anchor="ctr" rtlCol="false" tIns="50704" lIns="50704" bIns="50704" rIns="50704"/>
            <a:lstStyle/>
            <a:p>
              <a:pPr algn="ctr" marL="0" indent="0" lvl="0">
                <a:lnSpc>
                  <a:spcPts val="3135"/>
                </a:lnSpc>
              </a:pPr>
            </a:p>
          </p:txBody>
        </p:sp>
      </p:grpSp>
      <p:sp>
        <p:nvSpPr>
          <p:cNvPr name="TextBox 10" id="10"/>
          <p:cNvSpPr txBox="true"/>
          <p:nvPr/>
        </p:nvSpPr>
        <p:spPr>
          <a:xfrm rot="0">
            <a:off x="6425537" y="3037536"/>
            <a:ext cx="9523548" cy="1043029"/>
          </a:xfrm>
          <a:prstGeom prst="rect">
            <a:avLst/>
          </a:prstGeom>
        </p:spPr>
        <p:txBody>
          <a:bodyPr anchor="t" rtlCol="false" tIns="0" lIns="0" bIns="0" rIns="0">
            <a:spAutoFit/>
          </a:bodyPr>
          <a:lstStyle/>
          <a:p>
            <a:pPr algn="l" marL="0" indent="0" lvl="0">
              <a:lnSpc>
                <a:spcPts val="2774"/>
              </a:lnSpc>
              <a:spcBef>
                <a:spcPct val="0"/>
              </a:spcBef>
            </a:pPr>
            <a:r>
              <a:rPr lang="en-US" sz="1981" spc="9" strike="noStrike" u="none">
                <a:solidFill>
                  <a:srgbClr val="181D2B"/>
                </a:solidFill>
                <a:latin typeface="Open Sauce"/>
                <a:ea typeface="Open Sauce"/>
                <a:cs typeface="Open Sauce"/>
                <a:sym typeface="Open Sauce"/>
              </a:rPr>
              <a:t>How can automated security analysis tools effectively detect and classify vulnerabilities in modern software systems, reducing manual effort while improving accuracy and coverage across diverse threat vectors?</a:t>
            </a:r>
          </a:p>
        </p:txBody>
      </p:sp>
      <p:sp>
        <p:nvSpPr>
          <p:cNvPr name="Freeform 11" id="11"/>
          <p:cNvSpPr/>
          <p:nvPr/>
        </p:nvSpPr>
        <p:spPr>
          <a:xfrm flipH="false" flipV="false" rot="0">
            <a:off x="4998624" y="3615501"/>
            <a:ext cx="586747" cy="223355"/>
          </a:xfrm>
          <a:custGeom>
            <a:avLst/>
            <a:gdLst/>
            <a:ahLst/>
            <a:cxnLst/>
            <a:rect r="r" b="b" t="t" l="l"/>
            <a:pathLst>
              <a:path h="223355" w="586747">
                <a:moveTo>
                  <a:pt x="0" y="0"/>
                </a:moveTo>
                <a:lnTo>
                  <a:pt x="586747" y="0"/>
                </a:lnTo>
                <a:lnTo>
                  <a:pt x="586747" y="223355"/>
                </a:lnTo>
                <a:lnTo>
                  <a:pt x="0" y="2233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true" rot="-9340067">
            <a:off x="670974" y="3948991"/>
            <a:ext cx="5637614" cy="4715095"/>
          </a:xfrm>
          <a:custGeom>
            <a:avLst/>
            <a:gdLst/>
            <a:ahLst/>
            <a:cxnLst/>
            <a:rect r="r" b="b" t="t" l="l"/>
            <a:pathLst>
              <a:path h="4715095" w="5637614">
                <a:moveTo>
                  <a:pt x="0" y="4715095"/>
                </a:moveTo>
                <a:lnTo>
                  <a:pt x="5637614" y="4715095"/>
                </a:lnTo>
                <a:lnTo>
                  <a:pt x="5637614" y="0"/>
                </a:lnTo>
                <a:lnTo>
                  <a:pt x="0" y="0"/>
                </a:lnTo>
                <a:lnTo>
                  <a:pt x="0" y="4715095"/>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5900989" y="5072908"/>
            <a:ext cx="10863414" cy="2167257"/>
            <a:chOff x="0" y="0"/>
            <a:chExt cx="2866578" cy="571884"/>
          </a:xfrm>
        </p:grpSpPr>
        <p:sp>
          <p:nvSpPr>
            <p:cNvPr name="Freeform 14" id="14"/>
            <p:cNvSpPr/>
            <p:nvPr/>
          </p:nvSpPr>
          <p:spPr>
            <a:xfrm flipH="false" flipV="false" rot="0">
              <a:off x="0" y="0"/>
              <a:ext cx="2866578" cy="571884"/>
            </a:xfrm>
            <a:custGeom>
              <a:avLst/>
              <a:gdLst/>
              <a:ahLst/>
              <a:cxnLst/>
              <a:rect r="r" b="b" t="t" l="l"/>
              <a:pathLst>
                <a:path h="571884" w="2866578">
                  <a:moveTo>
                    <a:pt x="20667" y="0"/>
                  </a:moveTo>
                  <a:lnTo>
                    <a:pt x="2845911" y="0"/>
                  </a:lnTo>
                  <a:cubicBezTo>
                    <a:pt x="2857325" y="0"/>
                    <a:pt x="2866578" y="9253"/>
                    <a:pt x="2866578" y="20667"/>
                  </a:cubicBezTo>
                  <a:lnTo>
                    <a:pt x="2866578" y="551217"/>
                  </a:lnTo>
                  <a:cubicBezTo>
                    <a:pt x="2866578" y="556698"/>
                    <a:pt x="2864401" y="561955"/>
                    <a:pt x="2860525" y="565831"/>
                  </a:cubicBezTo>
                  <a:cubicBezTo>
                    <a:pt x="2856649" y="569706"/>
                    <a:pt x="2851392" y="571884"/>
                    <a:pt x="2845911" y="571884"/>
                  </a:cubicBezTo>
                  <a:lnTo>
                    <a:pt x="20667" y="571884"/>
                  </a:lnTo>
                  <a:cubicBezTo>
                    <a:pt x="15186" y="571884"/>
                    <a:pt x="9929" y="569706"/>
                    <a:pt x="6053" y="565831"/>
                  </a:cubicBezTo>
                  <a:cubicBezTo>
                    <a:pt x="2177" y="561955"/>
                    <a:pt x="0" y="556698"/>
                    <a:pt x="0" y="551217"/>
                  </a:cubicBezTo>
                  <a:lnTo>
                    <a:pt x="0" y="20667"/>
                  </a:lnTo>
                  <a:cubicBezTo>
                    <a:pt x="0" y="15186"/>
                    <a:pt x="2177" y="9929"/>
                    <a:pt x="6053" y="6053"/>
                  </a:cubicBezTo>
                  <a:cubicBezTo>
                    <a:pt x="9929" y="2177"/>
                    <a:pt x="15186" y="0"/>
                    <a:pt x="20667" y="0"/>
                  </a:cubicBezTo>
                  <a:close/>
                </a:path>
              </a:pathLst>
            </a:custGeom>
            <a:solidFill>
              <a:srgbClr val="FFFFFE"/>
            </a:solidFill>
            <a:ln w="19050" cap="rnd">
              <a:solidFill>
                <a:srgbClr val="181D2B"/>
              </a:solidFill>
              <a:prstDash val="solid"/>
              <a:round/>
            </a:ln>
          </p:spPr>
        </p:sp>
        <p:sp>
          <p:nvSpPr>
            <p:cNvPr name="TextBox 15" id="15"/>
            <p:cNvSpPr txBox="true"/>
            <p:nvPr/>
          </p:nvSpPr>
          <p:spPr>
            <a:xfrm>
              <a:off x="0" y="-38100"/>
              <a:ext cx="2866578" cy="609984"/>
            </a:xfrm>
            <a:prstGeom prst="rect">
              <a:avLst/>
            </a:prstGeom>
          </p:spPr>
          <p:txBody>
            <a:bodyPr anchor="ctr" rtlCol="false" tIns="50704" lIns="50704" bIns="50704" rIns="50704"/>
            <a:lstStyle/>
            <a:p>
              <a:pPr algn="ctr" marL="0" indent="0" lvl="0">
                <a:lnSpc>
                  <a:spcPts val="3135"/>
                </a:lnSpc>
              </a:pPr>
            </a:p>
          </p:txBody>
        </p:sp>
      </p:grpSp>
      <p:sp>
        <p:nvSpPr>
          <p:cNvPr name="TextBox 16" id="16"/>
          <p:cNvSpPr txBox="true"/>
          <p:nvPr/>
        </p:nvSpPr>
        <p:spPr>
          <a:xfrm rot="0">
            <a:off x="6425537" y="5466894"/>
            <a:ext cx="9523548" cy="1043029"/>
          </a:xfrm>
          <a:prstGeom prst="rect">
            <a:avLst/>
          </a:prstGeom>
        </p:spPr>
        <p:txBody>
          <a:bodyPr anchor="t" rtlCol="false" tIns="0" lIns="0" bIns="0" rIns="0">
            <a:spAutoFit/>
          </a:bodyPr>
          <a:lstStyle/>
          <a:p>
            <a:pPr algn="l" marL="0" indent="0" lvl="0">
              <a:lnSpc>
                <a:spcPts val="2774"/>
              </a:lnSpc>
              <a:spcBef>
                <a:spcPct val="0"/>
              </a:spcBef>
            </a:pPr>
            <a:r>
              <a:rPr lang="en-US" sz="1981" spc="9" strike="noStrike" u="none">
                <a:solidFill>
                  <a:srgbClr val="181D2B"/>
                </a:solidFill>
                <a:latin typeface="Open Sauce"/>
                <a:ea typeface="Open Sauce"/>
                <a:cs typeface="Open Sauce"/>
                <a:sym typeface="Open Sauce"/>
              </a:rPr>
              <a:t>What methodologies and analytical frameworks can be integrated into VAJRA to provide real-time threat intelligence, enabling proactive identification of security breaches and system anomalies before critical damage occurs?</a:t>
            </a:r>
          </a:p>
        </p:txBody>
      </p:sp>
      <p:sp>
        <p:nvSpPr>
          <p:cNvPr name="Freeform 17" id="17"/>
          <p:cNvSpPr/>
          <p:nvPr/>
        </p:nvSpPr>
        <p:spPr>
          <a:xfrm flipH="false" flipV="false" rot="0">
            <a:off x="4998624" y="6044859"/>
            <a:ext cx="586747" cy="223355"/>
          </a:xfrm>
          <a:custGeom>
            <a:avLst/>
            <a:gdLst/>
            <a:ahLst/>
            <a:cxnLst/>
            <a:rect r="r" b="b" t="t" l="l"/>
            <a:pathLst>
              <a:path h="223355" w="586747">
                <a:moveTo>
                  <a:pt x="0" y="0"/>
                </a:moveTo>
                <a:lnTo>
                  <a:pt x="586747" y="0"/>
                </a:lnTo>
                <a:lnTo>
                  <a:pt x="586747" y="223355"/>
                </a:lnTo>
                <a:lnTo>
                  <a:pt x="0" y="2233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150717" y="2645110"/>
            <a:ext cx="9343257" cy="8578808"/>
          </a:xfrm>
          <a:custGeom>
            <a:avLst/>
            <a:gdLst/>
            <a:ahLst/>
            <a:cxnLst/>
            <a:rect r="r" b="b" t="t" l="l"/>
            <a:pathLst>
              <a:path h="8578808" w="9343257">
                <a:moveTo>
                  <a:pt x="0" y="0"/>
                </a:moveTo>
                <a:lnTo>
                  <a:pt x="9343257" y="0"/>
                </a:lnTo>
                <a:lnTo>
                  <a:pt x="9343257" y="8578808"/>
                </a:lnTo>
                <a:lnTo>
                  <a:pt x="0" y="85788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5772013" y="3914475"/>
            <a:ext cx="10249037" cy="2458051"/>
            <a:chOff x="0" y="0"/>
            <a:chExt cx="2704460" cy="648617"/>
          </a:xfrm>
        </p:grpSpPr>
        <p:sp>
          <p:nvSpPr>
            <p:cNvPr name="Freeform 4" id="4"/>
            <p:cNvSpPr/>
            <p:nvPr/>
          </p:nvSpPr>
          <p:spPr>
            <a:xfrm flipH="false" flipV="false" rot="0">
              <a:off x="0" y="0"/>
              <a:ext cx="2704460" cy="648617"/>
            </a:xfrm>
            <a:custGeom>
              <a:avLst/>
              <a:gdLst/>
              <a:ahLst/>
              <a:cxnLst/>
              <a:rect r="r" b="b" t="t" l="l"/>
              <a:pathLst>
                <a:path h="648617" w="2704460">
                  <a:moveTo>
                    <a:pt x="21906" y="0"/>
                  </a:moveTo>
                  <a:lnTo>
                    <a:pt x="2682554" y="0"/>
                  </a:lnTo>
                  <a:cubicBezTo>
                    <a:pt x="2694652" y="0"/>
                    <a:pt x="2704460" y="9808"/>
                    <a:pt x="2704460" y="21906"/>
                  </a:cubicBezTo>
                  <a:lnTo>
                    <a:pt x="2704460" y="626711"/>
                  </a:lnTo>
                  <a:cubicBezTo>
                    <a:pt x="2704460" y="632521"/>
                    <a:pt x="2702152" y="638093"/>
                    <a:pt x="2698043" y="642201"/>
                  </a:cubicBezTo>
                  <a:cubicBezTo>
                    <a:pt x="2693935" y="646309"/>
                    <a:pt x="2688363" y="648617"/>
                    <a:pt x="2682554" y="648617"/>
                  </a:cubicBezTo>
                  <a:lnTo>
                    <a:pt x="21906" y="648617"/>
                  </a:lnTo>
                  <a:cubicBezTo>
                    <a:pt x="16096" y="648617"/>
                    <a:pt x="10524" y="646309"/>
                    <a:pt x="6416" y="642201"/>
                  </a:cubicBezTo>
                  <a:cubicBezTo>
                    <a:pt x="2308" y="638093"/>
                    <a:pt x="0" y="632521"/>
                    <a:pt x="0" y="626711"/>
                  </a:cubicBezTo>
                  <a:lnTo>
                    <a:pt x="0" y="21906"/>
                  </a:lnTo>
                  <a:cubicBezTo>
                    <a:pt x="0" y="16096"/>
                    <a:pt x="2308" y="10524"/>
                    <a:pt x="6416" y="6416"/>
                  </a:cubicBezTo>
                  <a:cubicBezTo>
                    <a:pt x="10524" y="2308"/>
                    <a:pt x="16096" y="0"/>
                    <a:pt x="21906" y="0"/>
                  </a:cubicBezTo>
                  <a:close/>
                </a:path>
              </a:pathLst>
            </a:custGeom>
            <a:solidFill>
              <a:srgbClr val="FFFFFE"/>
            </a:solidFill>
            <a:ln w="19050" cap="rnd">
              <a:solidFill>
                <a:srgbClr val="181D2B"/>
              </a:solidFill>
              <a:prstDash val="solid"/>
              <a:round/>
            </a:ln>
          </p:spPr>
        </p:sp>
        <p:sp>
          <p:nvSpPr>
            <p:cNvPr name="TextBox 5" id="5"/>
            <p:cNvSpPr txBox="true"/>
            <p:nvPr/>
          </p:nvSpPr>
          <p:spPr>
            <a:xfrm>
              <a:off x="0" y="-38100"/>
              <a:ext cx="2704460" cy="686717"/>
            </a:xfrm>
            <a:prstGeom prst="rect">
              <a:avLst/>
            </a:prstGeom>
          </p:spPr>
          <p:txBody>
            <a:bodyPr anchor="ctr" rtlCol="false" tIns="50704" lIns="50704" bIns="50704" rIns="50704"/>
            <a:lstStyle/>
            <a:p>
              <a:pPr algn="ctr" marL="0" indent="0" lvl="0">
                <a:lnSpc>
                  <a:spcPts val="3135"/>
                </a:lnSpc>
              </a:pPr>
            </a:p>
          </p:txBody>
        </p:sp>
      </p:grpSp>
      <p:sp>
        <p:nvSpPr>
          <p:cNvPr name="TextBox 6" id="6"/>
          <p:cNvSpPr txBox="true"/>
          <p:nvPr/>
        </p:nvSpPr>
        <p:spPr>
          <a:xfrm rot="0">
            <a:off x="6120067" y="4140962"/>
            <a:ext cx="9710250" cy="490905"/>
          </a:xfrm>
          <a:prstGeom prst="rect">
            <a:avLst/>
          </a:prstGeom>
        </p:spPr>
        <p:txBody>
          <a:bodyPr anchor="t" rtlCol="false" tIns="0" lIns="0" bIns="0" rIns="0">
            <a:spAutoFit/>
          </a:bodyPr>
          <a:lstStyle/>
          <a:p>
            <a:pPr algn="l" marL="0" indent="0" lvl="0">
              <a:lnSpc>
                <a:spcPts val="3917"/>
              </a:lnSpc>
              <a:spcBef>
                <a:spcPct val="0"/>
              </a:spcBef>
            </a:pPr>
            <a:r>
              <a:rPr lang="en-US" b="true" sz="2798" spc="13" strike="noStrike" u="none">
                <a:solidFill>
                  <a:srgbClr val="181D2B"/>
                </a:solidFill>
                <a:latin typeface="Open Sauce Bold"/>
                <a:ea typeface="Open Sauce Bold"/>
                <a:cs typeface="Open Sauce Bold"/>
                <a:sym typeface="Open Sauce Bold"/>
              </a:rPr>
              <a:t>Data Collection &amp; Reconnaissance</a:t>
            </a:r>
          </a:p>
        </p:txBody>
      </p:sp>
      <p:sp>
        <p:nvSpPr>
          <p:cNvPr name="TextBox 7" id="7"/>
          <p:cNvSpPr txBox="true"/>
          <p:nvPr/>
        </p:nvSpPr>
        <p:spPr>
          <a:xfrm rot="0">
            <a:off x="6120067" y="4747596"/>
            <a:ext cx="9710250" cy="1313711"/>
          </a:xfrm>
          <a:prstGeom prst="rect">
            <a:avLst/>
          </a:prstGeom>
        </p:spPr>
        <p:txBody>
          <a:bodyPr anchor="t" rtlCol="false" tIns="0" lIns="0" bIns="0" rIns="0">
            <a:spAutoFit/>
          </a:bodyPr>
          <a:lstStyle/>
          <a:p>
            <a:pPr algn="l" marL="0" indent="0" lvl="0">
              <a:lnSpc>
                <a:spcPts val="2665"/>
              </a:lnSpc>
              <a:spcBef>
                <a:spcPct val="0"/>
              </a:spcBef>
            </a:pPr>
            <a:r>
              <a:rPr lang="en-US" sz="1904" spc="9" strike="noStrike" u="none">
                <a:solidFill>
                  <a:srgbClr val="181D2B"/>
                </a:solidFill>
                <a:latin typeface="Open Sauce"/>
                <a:ea typeface="Open Sauce"/>
                <a:cs typeface="Open Sauce"/>
                <a:sym typeface="Open Sauce"/>
              </a:rPr>
              <a:t>VAJRA employs automated OSINT and active scanning techniques to gather network intelligence. Tools include port scanners, service enumeration modules, and vulnerability fingerprinting engines to build a comprehensive attack surface map.</a:t>
            </a:r>
          </a:p>
        </p:txBody>
      </p:sp>
      <p:grpSp>
        <p:nvGrpSpPr>
          <p:cNvPr name="Group 8" id="8"/>
          <p:cNvGrpSpPr/>
          <p:nvPr/>
        </p:nvGrpSpPr>
        <p:grpSpPr>
          <a:xfrm rot="0">
            <a:off x="7010263" y="6800249"/>
            <a:ext cx="10249037" cy="2458051"/>
            <a:chOff x="0" y="0"/>
            <a:chExt cx="2704460" cy="648617"/>
          </a:xfrm>
        </p:grpSpPr>
        <p:sp>
          <p:nvSpPr>
            <p:cNvPr name="Freeform 9" id="9"/>
            <p:cNvSpPr/>
            <p:nvPr/>
          </p:nvSpPr>
          <p:spPr>
            <a:xfrm flipH="false" flipV="false" rot="0">
              <a:off x="0" y="0"/>
              <a:ext cx="2704460" cy="648617"/>
            </a:xfrm>
            <a:custGeom>
              <a:avLst/>
              <a:gdLst/>
              <a:ahLst/>
              <a:cxnLst/>
              <a:rect r="r" b="b" t="t" l="l"/>
              <a:pathLst>
                <a:path h="648617" w="2704460">
                  <a:moveTo>
                    <a:pt x="21906" y="0"/>
                  </a:moveTo>
                  <a:lnTo>
                    <a:pt x="2682554" y="0"/>
                  </a:lnTo>
                  <a:cubicBezTo>
                    <a:pt x="2694652" y="0"/>
                    <a:pt x="2704460" y="9808"/>
                    <a:pt x="2704460" y="21906"/>
                  </a:cubicBezTo>
                  <a:lnTo>
                    <a:pt x="2704460" y="626711"/>
                  </a:lnTo>
                  <a:cubicBezTo>
                    <a:pt x="2704460" y="632521"/>
                    <a:pt x="2702152" y="638093"/>
                    <a:pt x="2698043" y="642201"/>
                  </a:cubicBezTo>
                  <a:cubicBezTo>
                    <a:pt x="2693935" y="646309"/>
                    <a:pt x="2688363" y="648617"/>
                    <a:pt x="2682554" y="648617"/>
                  </a:cubicBezTo>
                  <a:lnTo>
                    <a:pt x="21906" y="648617"/>
                  </a:lnTo>
                  <a:cubicBezTo>
                    <a:pt x="16096" y="648617"/>
                    <a:pt x="10524" y="646309"/>
                    <a:pt x="6416" y="642201"/>
                  </a:cubicBezTo>
                  <a:cubicBezTo>
                    <a:pt x="2308" y="638093"/>
                    <a:pt x="0" y="632521"/>
                    <a:pt x="0" y="626711"/>
                  </a:cubicBezTo>
                  <a:lnTo>
                    <a:pt x="0" y="21906"/>
                  </a:lnTo>
                  <a:cubicBezTo>
                    <a:pt x="0" y="16096"/>
                    <a:pt x="2308" y="10524"/>
                    <a:pt x="6416" y="6416"/>
                  </a:cubicBezTo>
                  <a:cubicBezTo>
                    <a:pt x="10524" y="2308"/>
                    <a:pt x="16096" y="0"/>
                    <a:pt x="21906" y="0"/>
                  </a:cubicBezTo>
                  <a:close/>
                </a:path>
              </a:pathLst>
            </a:custGeom>
            <a:solidFill>
              <a:srgbClr val="FFFFFE"/>
            </a:solidFill>
            <a:ln w="19050" cap="rnd">
              <a:solidFill>
                <a:srgbClr val="181D2B"/>
              </a:solidFill>
              <a:prstDash val="solid"/>
              <a:round/>
            </a:ln>
          </p:spPr>
        </p:sp>
        <p:sp>
          <p:nvSpPr>
            <p:cNvPr name="TextBox 10" id="10"/>
            <p:cNvSpPr txBox="true"/>
            <p:nvPr/>
          </p:nvSpPr>
          <p:spPr>
            <a:xfrm>
              <a:off x="0" y="-38100"/>
              <a:ext cx="2704460" cy="686717"/>
            </a:xfrm>
            <a:prstGeom prst="rect">
              <a:avLst/>
            </a:prstGeom>
          </p:spPr>
          <p:txBody>
            <a:bodyPr anchor="ctr" rtlCol="false" tIns="50704" lIns="50704" bIns="50704" rIns="50704"/>
            <a:lstStyle/>
            <a:p>
              <a:pPr algn="ctr" marL="0" indent="0" lvl="0">
                <a:lnSpc>
                  <a:spcPts val="3135"/>
                </a:lnSpc>
              </a:pPr>
            </a:p>
          </p:txBody>
        </p:sp>
      </p:grpSp>
      <p:sp>
        <p:nvSpPr>
          <p:cNvPr name="TextBox 11" id="11"/>
          <p:cNvSpPr txBox="true"/>
          <p:nvPr/>
        </p:nvSpPr>
        <p:spPr>
          <a:xfrm rot="0">
            <a:off x="7358317" y="7026736"/>
            <a:ext cx="9710250" cy="490905"/>
          </a:xfrm>
          <a:prstGeom prst="rect">
            <a:avLst/>
          </a:prstGeom>
        </p:spPr>
        <p:txBody>
          <a:bodyPr anchor="t" rtlCol="false" tIns="0" lIns="0" bIns="0" rIns="0">
            <a:spAutoFit/>
          </a:bodyPr>
          <a:lstStyle/>
          <a:p>
            <a:pPr algn="l" marL="0" indent="0" lvl="0">
              <a:lnSpc>
                <a:spcPts val="3917"/>
              </a:lnSpc>
              <a:spcBef>
                <a:spcPct val="0"/>
              </a:spcBef>
            </a:pPr>
            <a:r>
              <a:rPr lang="en-US" b="true" sz="2798" spc="13">
                <a:solidFill>
                  <a:srgbClr val="181D2B"/>
                </a:solidFill>
                <a:latin typeface="Open Sauce Bold"/>
                <a:ea typeface="Open Sauce Bold"/>
                <a:cs typeface="Open Sauce Bold"/>
                <a:sym typeface="Open Sauce Bold"/>
              </a:rPr>
              <a:t>Threat Analysis &amp; Reporting</a:t>
            </a:r>
          </a:p>
        </p:txBody>
      </p:sp>
      <p:sp>
        <p:nvSpPr>
          <p:cNvPr name="TextBox 12" id="12"/>
          <p:cNvSpPr txBox="true"/>
          <p:nvPr/>
        </p:nvSpPr>
        <p:spPr>
          <a:xfrm rot="0">
            <a:off x="7358317" y="7633371"/>
            <a:ext cx="9710250" cy="1313711"/>
          </a:xfrm>
          <a:prstGeom prst="rect">
            <a:avLst/>
          </a:prstGeom>
        </p:spPr>
        <p:txBody>
          <a:bodyPr anchor="t" rtlCol="false" tIns="0" lIns="0" bIns="0" rIns="0">
            <a:spAutoFit/>
          </a:bodyPr>
          <a:lstStyle/>
          <a:p>
            <a:pPr algn="l" marL="0" indent="0" lvl="0">
              <a:lnSpc>
                <a:spcPts val="2665"/>
              </a:lnSpc>
              <a:spcBef>
                <a:spcPct val="0"/>
              </a:spcBef>
            </a:pPr>
            <a:r>
              <a:rPr lang="en-US" sz="1904" spc="9" strike="noStrike" u="none">
                <a:solidFill>
                  <a:srgbClr val="181D2B"/>
                </a:solidFill>
                <a:latin typeface="Open Sauce"/>
                <a:ea typeface="Open Sauce"/>
                <a:cs typeface="Open Sauce"/>
                <a:sym typeface="Open Sauce"/>
              </a:rPr>
              <a:t>Collected data is processed through a multi-layered analysis engine that correlates CVEs, misconfigurations, and risk scores. Results are compiled into structured security reports with prioritized remediation recommendations for stakeholders.</a:t>
            </a:r>
          </a:p>
        </p:txBody>
      </p:sp>
      <p:sp>
        <p:nvSpPr>
          <p:cNvPr name="Freeform 13" id="13"/>
          <p:cNvSpPr/>
          <p:nvPr/>
        </p:nvSpPr>
        <p:spPr>
          <a:xfrm flipH="false" flipV="false" rot="0">
            <a:off x="1179777" y="2896089"/>
            <a:ext cx="4384820" cy="4399102"/>
          </a:xfrm>
          <a:custGeom>
            <a:avLst/>
            <a:gdLst/>
            <a:ahLst/>
            <a:cxnLst/>
            <a:rect r="r" b="b" t="t" l="l"/>
            <a:pathLst>
              <a:path h="4399102" w="4384820">
                <a:moveTo>
                  <a:pt x="0" y="0"/>
                </a:moveTo>
                <a:lnTo>
                  <a:pt x="4384819" y="0"/>
                </a:lnTo>
                <a:lnTo>
                  <a:pt x="4384819" y="4399102"/>
                </a:lnTo>
                <a:lnTo>
                  <a:pt x="0" y="4399102"/>
                </a:lnTo>
                <a:lnTo>
                  <a:pt x="0" y="0"/>
                </a:lnTo>
                <a:close/>
              </a:path>
            </a:pathLst>
          </a:custGeom>
          <a:blipFill>
            <a:blip r:embed="rId4"/>
            <a:stretch>
              <a:fillRect l="0" t="0" r="0" b="0"/>
            </a:stretch>
          </a:blipFill>
          <a:ln cap="sq">
            <a:noFill/>
            <a:prstDash val="solid"/>
            <a:miter/>
          </a:ln>
        </p:spPr>
      </p:sp>
      <p:sp>
        <p:nvSpPr>
          <p:cNvPr name="Freeform 14" id="14"/>
          <p:cNvSpPr/>
          <p:nvPr/>
        </p:nvSpPr>
        <p:spPr>
          <a:xfrm flipH="false" flipV="false" rot="0">
            <a:off x="4194119" y="6803690"/>
            <a:ext cx="1927087" cy="2426094"/>
          </a:xfrm>
          <a:custGeom>
            <a:avLst/>
            <a:gdLst/>
            <a:ahLst/>
            <a:cxnLst/>
            <a:rect r="r" b="b" t="t" l="l"/>
            <a:pathLst>
              <a:path h="2426094" w="1927087">
                <a:moveTo>
                  <a:pt x="0" y="0"/>
                </a:moveTo>
                <a:lnTo>
                  <a:pt x="1927087" y="0"/>
                </a:lnTo>
                <a:lnTo>
                  <a:pt x="1927087" y="2426094"/>
                </a:lnTo>
                <a:lnTo>
                  <a:pt x="0" y="2426094"/>
                </a:lnTo>
                <a:lnTo>
                  <a:pt x="0" y="0"/>
                </a:lnTo>
                <a:close/>
              </a:path>
            </a:pathLst>
          </a:custGeom>
          <a:blipFill>
            <a:blip r:embed="rId5"/>
            <a:stretch>
              <a:fillRect l="0" t="0" r="0" b="0"/>
            </a:stretch>
          </a:blipFill>
          <a:ln cap="sq">
            <a:noFill/>
            <a:prstDash val="solid"/>
            <a:miter/>
          </a:ln>
        </p:spPr>
      </p:sp>
      <p:sp>
        <p:nvSpPr>
          <p:cNvPr name="Freeform 15" id="15"/>
          <p:cNvSpPr/>
          <p:nvPr/>
        </p:nvSpPr>
        <p:spPr>
          <a:xfrm flipH="false" flipV="false" rot="0">
            <a:off x="16546265" y="1028700"/>
            <a:ext cx="697121" cy="784083"/>
          </a:xfrm>
          <a:custGeom>
            <a:avLst/>
            <a:gdLst/>
            <a:ahLst/>
            <a:cxnLst/>
            <a:rect r="r" b="b" t="t" l="l"/>
            <a:pathLst>
              <a:path h="784083" w="697121">
                <a:moveTo>
                  <a:pt x="0" y="0"/>
                </a:moveTo>
                <a:lnTo>
                  <a:pt x="697120" y="0"/>
                </a:lnTo>
                <a:lnTo>
                  <a:pt x="697120" y="784083"/>
                </a:lnTo>
                <a:lnTo>
                  <a:pt x="0" y="7840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6" id="16"/>
          <p:cNvSpPr txBox="true"/>
          <p:nvPr/>
        </p:nvSpPr>
        <p:spPr>
          <a:xfrm rot="0">
            <a:off x="13802857" y="1007110"/>
            <a:ext cx="2432042" cy="290591"/>
          </a:xfrm>
          <a:prstGeom prst="rect">
            <a:avLst/>
          </a:prstGeom>
        </p:spPr>
        <p:txBody>
          <a:bodyPr anchor="t" rtlCol="false" tIns="0" lIns="0" bIns="0" rIns="0">
            <a:spAutoFit/>
          </a:bodyPr>
          <a:lstStyle/>
          <a:p>
            <a:pPr algn="r" marL="0" indent="0" lvl="0">
              <a:lnSpc>
                <a:spcPts val="2358"/>
              </a:lnSpc>
            </a:pPr>
            <a:r>
              <a:rPr lang="en-US" sz="1684" spc="8">
                <a:solidFill>
                  <a:srgbClr val="181D2B"/>
                </a:solidFill>
                <a:latin typeface="Open Sauce"/>
                <a:ea typeface="Open Sauce"/>
                <a:cs typeface="Open Sauce"/>
                <a:sym typeface="Open Sauce"/>
              </a:rPr>
              <a:t>Researcher</a:t>
            </a:r>
          </a:p>
        </p:txBody>
      </p:sp>
      <p:sp>
        <p:nvSpPr>
          <p:cNvPr name="TextBox 17" id="17"/>
          <p:cNvSpPr txBox="true"/>
          <p:nvPr/>
        </p:nvSpPr>
        <p:spPr>
          <a:xfrm rot="0">
            <a:off x="1028700" y="1547196"/>
            <a:ext cx="8913197" cy="1767362"/>
          </a:xfrm>
          <a:prstGeom prst="rect">
            <a:avLst/>
          </a:prstGeom>
        </p:spPr>
        <p:txBody>
          <a:bodyPr anchor="t" rtlCol="false" tIns="0" lIns="0" bIns="0" rIns="0">
            <a:spAutoFit/>
          </a:bodyPr>
          <a:lstStyle/>
          <a:p>
            <a:pPr algn="l" marL="0" indent="0" lvl="0">
              <a:lnSpc>
                <a:spcPts val="12311"/>
              </a:lnSpc>
              <a:spcBef>
                <a:spcPct val="0"/>
              </a:spcBef>
            </a:pPr>
            <a:r>
              <a:rPr lang="en-US" b="true" sz="8793" strike="noStrike" u="none">
                <a:solidFill>
                  <a:srgbClr val="2B598F"/>
                </a:solidFill>
                <a:latin typeface="Agrandir Bold"/>
                <a:ea typeface="Agrandir Bold"/>
                <a:cs typeface="Agrandir Bold"/>
                <a:sym typeface="Agrandir Bold"/>
              </a:rPr>
              <a:t>Methodology</a:t>
            </a:r>
          </a:p>
        </p:txBody>
      </p:sp>
      <p:sp>
        <p:nvSpPr>
          <p:cNvPr name="TextBox 18" id="18"/>
          <p:cNvSpPr txBox="true"/>
          <p:nvPr/>
        </p:nvSpPr>
        <p:spPr>
          <a:xfrm rot="0">
            <a:off x="13802857" y="1321878"/>
            <a:ext cx="2432042" cy="490905"/>
          </a:xfrm>
          <a:prstGeom prst="rect">
            <a:avLst/>
          </a:prstGeom>
        </p:spPr>
        <p:txBody>
          <a:bodyPr anchor="t" rtlCol="false" tIns="0" lIns="0" bIns="0" rIns="0">
            <a:spAutoFit/>
          </a:bodyPr>
          <a:lstStyle/>
          <a:p>
            <a:pPr algn="r" marL="0" indent="0" lvl="0">
              <a:lnSpc>
                <a:spcPts val="3917"/>
              </a:lnSpc>
            </a:pPr>
            <a:r>
              <a:rPr lang="en-US" b="true" sz="2798" spc="13">
                <a:solidFill>
                  <a:srgbClr val="181D2B"/>
                </a:solidFill>
                <a:latin typeface="Open Sauce Bold"/>
                <a:ea typeface="Open Sauce Bold"/>
                <a:cs typeface="Open Sauce Bold"/>
                <a:sym typeface="Open Sauce Bold"/>
              </a:rPr>
              <a:t>VAJRA Team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70615" y="3124077"/>
            <a:ext cx="7651050" cy="12268447"/>
          </a:xfrm>
          <a:custGeom>
            <a:avLst/>
            <a:gdLst/>
            <a:ahLst/>
            <a:cxnLst/>
            <a:rect r="r" b="b" t="t" l="l"/>
            <a:pathLst>
              <a:path h="12268447" w="7651050">
                <a:moveTo>
                  <a:pt x="0" y="0"/>
                </a:moveTo>
                <a:lnTo>
                  <a:pt x="7651049" y="0"/>
                </a:lnTo>
                <a:lnTo>
                  <a:pt x="7651049" y="12268446"/>
                </a:lnTo>
                <a:lnTo>
                  <a:pt x="0" y="12268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028700" y="4218294"/>
            <a:ext cx="4802016" cy="4479196"/>
            <a:chOff x="0" y="0"/>
            <a:chExt cx="1267130" cy="1181946"/>
          </a:xfrm>
        </p:grpSpPr>
        <p:sp>
          <p:nvSpPr>
            <p:cNvPr name="Freeform 4" id="4"/>
            <p:cNvSpPr/>
            <p:nvPr/>
          </p:nvSpPr>
          <p:spPr>
            <a:xfrm flipH="false" flipV="false" rot="0">
              <a:off x="0" y="0"/>
              <a:ext cx="1267130" cy="1181946"/>
            </a:xfrm>
            <a:custGeom>
              <a:avLst/>
              <a:gdLst/>
              <a:ahLst/>
              <a:cxnLst/>
              <a:rect r="r" b="b" t="t" l="l"/>
              <a:pathLst>
                <a:path h="1181946" w="1267130">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sp>
        <p:sp>
          <p:nvSpPr>
            <p:cNvPr name="TextBox 5" id="5"/>
            <p:cNvSpPr txBox="true"/>
            <p:nvPr/>
          </p:nvSpPr>
          <p:spPr>
            <a:xfrm>
              <a:off x="0" y="-38100"/>
              <a:ext cx="1267130" cy="1220046"/>
            </a:xfrm>
            <a:prstGeom prst="rect">
              <a:avLst/>
            </a:prstGeom>
          </p:spPr>
          <p:txBody>
            <a:bodyPr anchor="ctr" rtlCol="false" tIns="50704" lIns="50704" bIns="50704" rIns="50704"/>
            <a:lstStyle/>
            <a:p>
              <a:pPr algn="ctr" marL="0" indent="0" lvl="0">
                <a:lnSpc>
                  <a:spcPts val="3135"/>
                </a:lnSpc>
              </a:pPr>
            </a:p>
          </p:txBody>
        </p:sp>
      </p:grpSp>
      <p:grpSp>
        <p:nvGrpSpPr>
          <p:cNvPr name="Group 6" id="6"/>
          <p:cNvGrpSpPr/>
          <p:nvPr/>
        </p:nvGrpSpPr>
        <p:grpSpPr>
          <a:xfrm rot="0">
            <a:off x="12457284" y="2085444"/>
            <a:ext cx="4802016" cy="4479196"/>
            <a:chOff x="0" y="0"/>
            <a:chExt cx="1267130" cy="1181946"/>
          </a:xfrm>
        </p:grpSpPr>
        <p:sp>
          <p:nvSpPr>
            <p:cNvPr name="Freeform 7" id="7"/>
            <p:cNvSpPr/>
            <p:nvPr/>
          </p:nvSpPr>
          <p:spPr>
            <a:xfrm flipH="false" flipV="false" rot="0">
              <a:off x="0" y="0"/>
              <a:ext cx="1267130" cy="1181946"/>
            </a:xfrm>
            <a:custGeom>
              <a:avLst/>
              <a:gdLst/>
              <a:ahLst/>
              <a:cxnLst/>
              <a:rect r="r" b="b" t="t" l="l"/>
              <a:pathLst>
                <a:path h="1181946" w="1267130">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sp>
        <p:sp>
          <p:nvSpPr>
            <p:cNvPr name="TextBox 8" id="8"/>
            <p:cNvSpPr txBox="true"/>
            <p:nvPr/>
          </p:nvSpPr>
          <p:spPr>
            <a:xfrm>
              <a:off x="0" y="-38100"/>
              <a:ext cx="1267130" cy="1220046"/>
            </a:xfrm>
            <a:prstGeom prst="rect">
              <a:avLst/>
            </a:prstGeom>
          </p:spPr>
          <p:txBody>
            <a:bodyPr anchor="ctr" rtlCol="false" tIns="50704" lIns="50704" bIns="50704" rIns="50704"/>
            <a:lstStyle/>
            <a:p>
              <a:pPr algn="ctr" marL="0" indent="0" lvl="0">
                <a:lnSpc>
                  <a:spcPts val="3135"/>
                </a:lnSpc>
              </a:pPr>
            </a:p>
          </p:txBody>
        </p:sp>
      </p:grpSp>
      <p:grpSp>
        <p:nvGrpSpPr>
          <p:cNvPr name="Group 9" id="9"/>
          <p:cNvGrpSpPr/>
          <p:nvPr/>
        </p:nvGrpSpPr>
        <p:grpSpPr>
          <a:xfrm rot="0">
            <a:off x="6742992" y="3151869"/>
            <a:ext cx="4802016" cy="4479196"/>
            <a:chOff x="0" y="0"/>
            <a:chExt cx="1267130" cy="1181946"/>
          </a:xfrm>
        </p:grpSpPr>
        <p:sp>
          <p:nvSpPr>
            <p:cNvPr name="Freeform 10" id="10"/>
            <p:cNvSpPr/>
            <p:nvPr/>
          </p:nvSpPr>
          <p:spPr>
            <a:xfrm flipH="false" flipV="false" rot="0">
              <a:off x="0" y="0"/>
              <a:ext cx="1267130" cy="1181946"/>
            </a:xfrm>
            <a:custGeom>
              <a:avLst/>
              <a:gdLst/>
              <a:ahLst/>
              <a:cxnLst/>
              <a:rect r="r" b="b" t="t" l="l"/>
              <a:pathLst>
                <a:path h="1181946" w="1267130">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sp>
        <p:sp>
          <p:nvSpPr>
            <p:cNvPr name="TextBox 11" id="11"/>
            <p:cNvSpPr txBox="true"/>
            <p:nvPr/>
          </p:nvSpPr>
          <p:spPr>
            <a:xfrm>
              <a:off x="0" y="-38100"/>
              <a:ext cx="1267130" cy="1220046"/>
            </a:xfrm>
            <a:prstGeom prst="rect">
              <a:avLst/>
            </a:prstGeom>
          </p:spPr>
          <p:txBody>
            <a:bodyPr anchor="ctr" rtlCol="false" tIns="50704" lIns="50704" bIns="50704" rIns="50704"/>
            <a:lstStyle/>
            <a:p>
              <a:pPr algn="ctr" marL="0" indent="0" lvl="0">
                <a:lnSpc>
                  <a:spcPts val="3135"/>
                </a:lnSpc>
              </a:pPr>
            </a:p>
          </p:txBody>
        </p:sp>
      </p:grpSp>
      <p:sp>
        <p:nvSpPr>
          <p:cNvPr name="TextBox 12" id="12"/>
          <p:cNvSpPr txBox="true"/>
          <p:nvPr/>
        </p:nvSpPr>
        <p:spPr>
          <a:xfrm rot="0">
            <a:off x="7156122" y="3479517"/>
            <a:ext cx="3784832" cy="224449"/>
          </a:xfrm>
          <a:prstGeom prst="rect">
            <a:avLst/>
          </a:prstGeom>
        </p:spPr>
        <p:txBody>
          <a:bodyPr anchor="t" rtlCol="false" tIns="0" lIns="0" bIns="0" rIns="0">
            <a:spAutoFit/>
          </a:bodyPr>
          <a:lstStyle/>
          <a:p>
            <a:pPr algn="l" marL="0" indent="0" lvl="0">
              <a:lnSpc>
                <a:spcPts val="1803"/>
              </a:lnSpc>
              <a:spcBef>
                <a:spcPct val="0"/>
              </a:spcBef>
            </a:pPr>
            <a:r>
              <a:rPr lang="en-US" b="true" sz="1288" spc="6">
                <a:solidFill>
                  <a:srgbClr val="181D2B"/>
                </a:solidFill>
                <a:latin typeface="Open Sauce Bold"/>
                <a:ea typeface="Open Sauce Bold"/>
                <a:cs typeface="Open Sauce Bold"/>
                <a:sym typeface="Open Sauce Bold"/>
              </a:rPr>
              <a:t>Step 2</a:t>
            </a:r>
          </a:p>
        </p:txBody>
      </p:sp>
      <p:sp>
        <p:nvSpPr>
          <p:cNvPr name="TextBox 13" id="13"/>
          <p:cNvSpPr txBox="true"/>
          <p:nvPr/>
        </p:nvSpPr>
        <p:spPr>
          <a:xfrm rot="0">
            <a:off x="7156122" y="4057576"/>
            <a:ext cx="4011851" cy="1175219"/>
          </a:xfrm>
          <a:prstGeom prst="rect">
            <a:avLst/>
          </a:prstGeom>
        </p:spPr>
        <p:txBody>
          <a:bodyPr anchor="t" rtlCol="false" tIns="0" lIns="0" bIns="0" rIns="0">
            <a:spAutoFit/>
          </a:bodyPr>
          <a:lstStyle/>
          <a:p>
            <a:pPr algn="l" marL="0" indent="0" lvl="0">
              <a:lnSpc>
                <a:spcPts val="1899"/>
              </a:lnSpc>
              <a:spcBef>
                <a:spcPct val="0"/>
              </a:spcBef>
            </a:pPr>
            <a:r>
              <a:rPr lang="en-US" sz="1356" spc="6" strike="noStrike" u="none">
                <a:solidFill>
                  <a:srgbClr val="181D2B"/>
                </a:solidFill>
                <a:latin typeface="Open Sauce"/>
                <a:ea typeface="Open Sauce"/>
                <a:cs typeface="Open Sauce"/>
                <a:sym typeface="Open Sauce"/>
              </a:rPr>
              <a:t>Vulnerability Detection &amp; Threat Analysis</a:t>
            </a:r>
          </a:p>
          <a:p>
            <a:pPr algn="l" marL="0" indent="0" lvl="0">
              <a:lnSpc>
                <a:spcPts val="1899"/>
              </a:lnSpc>
              <a:spcBef>
                <a:spcPct val="0"/>
              </a:spcBef>
            </a:pPr>
            <a:r>
              <a:rPr lang="en-US" sz="1356" spc="6" strike="noStrike" u="none">
                <a:solidFill>
                  <a:srgbClr val="181D2B"/>
                </a:solidFill>
                <a:latin typeface="Open Sauce"/>
                <a:ea typeface="Open Sauce"/>
                <a:cs typeface="Open Sauce"/>
                <a:sym typeface="Open Sauce"/>
              </a:rPr>
              <a:t>Automated scanning engines probe identified assets for known CVEs, misconfigurations, and security weaknesses, correlating findings against updated threat intelligence databases.</a:t>
            </a:r>
          </a:p>
        </p:txBody>
      </p:sp>
      <p:sp>
        <p:nvSpPr>
          <p:cNvPr name="Freeform 14" id="14"/>
          <p:cNvSpPr/>
          <p:nvPr/>
        </p:nvSpPr>
        <p:spPr>
          <a:xfrm flipH="false" flipV="false" rot="0">
            <a:off x="16562179" y="8474217"/>
            <a:ext cx="697121" cy="784083"/>
          </a:xfrm>
          <a:custGeom>
            <a:avLst/>
            <a:gdLst/>
            <a:ahLst/>
            <a:cxnLst/>
            <a:rect r="r" b="b" t="t" l="l"/>
            <a:pathLst>
              <a:path h="784083" w="697121">
                <a:moveTo>
                  <a:pt x="0" y="0"/>
                </a:moveTo>
                <a:lnTo>
                  <a:pt x="697121" y="0"/>
                </a:lnTo>
                <a:lnTo>
                  <a:pt x="697121" y="784083"/>
                </a:lnTo>
                <a:lnTo>
                  <a:pt x="0" y="7840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5" id="15"/>
          <p:cNvSpPr txBox="true"/>
          <p:nvPr/>
        </p:nvSpPr>
        <p:spPr>
          <a:xfrm rot="0">
            <a:off x="13818772" y="8471677"/>
            <a:ext cx="2432042" cy="198120"/>
          </a:xfrm>
          <a:prstGeom prst="rect">
            <a:avLst/>
          </a:prstGeom>
        </p:spPr>
        <p:txBody>
          <a:bodyPr anchor="t" rtlCol="false" tIns="0" lIns="0" bIns="0" rIns="0">
            <a:spAutoFit/>
          </a:bodyPr>
          <a:lstStyle/>
          <a:p>
            <a:pPr algn="r" marL="0" indent="0" lvl="0">
              <a:lnSpc>
                <a:spcPts val="1679"/>
              </a:lnSpc>
            </a:pPr>
            <a:r>
              <a:rPr lang="en-US" sz="1200" spc="6">
                <a:solidFill>
                  <a:srgbClr val="181D2B"/>
                </a:solidFill>
                <a:latin typeface="Open Sauce"/>
                <a:ea typeface="Open Sauce"/>
                <a:cs typeface="Open Sauce"/>
                <a:sym typeface="Open Sauce"/>
              </a:rPr>
              <a:t>Project</a:t>
            </a:r>
          </a:p>
        </p:txBody>
      </p:sp>
      <p:sp>
        <p:nvSpPr>
          <p:cNvPr name="TextBox 16" id="16"/>
          <p:cNvSpPr txBox="true"/>
          <p:nvPr/>
        </p:nvSpPr>
        <p:spPr>
          <a:xfrm rot="0">
            <a:off x="13818772" y="8761131"/>
            <a:ext cx="2432042" cy="453049"/>
          </a:xfrm>
          <a:prstGeom prst="rect">
            <a:avLst/>
          </a:prstGeom>
        </p:spPr>
        <p:txBody>
          <a:bodyPr anchor="t" rtlCol="false" tIns="0" lIns="0" bIns="0" rIns="0">
            <a:spAutoFit/>
          </a:bodyPr>
          <a:lstStyle/>
          <a:p>
            <a:pPr algn="r" marL="0" indent="0" lvl="0">
              <a:lnSpc>
                <a:spcPts val="1803"/>
              </a:lnSpc>
            </a:pPr>
            <a:r>
              <a:rPr lang="en-US" b="true" sz="1288" spc="6">
                <a:solidFill>
                  <a:srgbClr val="181D2B"/>
                </a:solidFill>
                <a:latin typeface="Open Sauce Bold"/>
                <a:ea typeface="Open Sauce Bold"/>
                <a:cs typeface="Open Sauce Bold"/>
                <a:sym typeface="Open Sauce Bold"/>
              </a:rPr>
              <a:t>VAJRA - SECURITY AND ANALYSIS</a:t>
            </a:r>
          </a:p>
        </p:txBody>
      </p:sp>
      <p:sp>
        <p:nvSpPr>
          <p:cNvPr name="Freeform 17" id="17"/>
          <p:cNvSpPr/>
          <p:nvPr/>
        </p:nvSpPr>
        <p:spPr>
          <a:xfrm flipH="false" flipV="false" rot="1433494">
            <a:off x="4930128" y="2970811"/>
            <a:ext cx="1413072" cy="1379521"/>
          </a:xfrm>
          <a:custGeom>
            <a:avLst/>
            <a:gdLst/>
            <a:ahLst/>
            <a:cxnLst/>
            <a:rect r="r" b="b" t="t" l="l"/>
            <a:pathLst>
              <a:path h="1379521" w="1413072">
                <a:moveTo>
                  <a:pt x="0" y="0"/>
                </a:moveTo>
                <a:lnTo>
                  <a:pt x="1413072" y="0"/>
                </a:lnTo>
                <a:lnTo>
                  <a:pt x="1413072" y="1379521"/>
                </a:lnTo>
                <a:lnTo>
                  <a:pt x="0" y="13795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1028700" y="838200"/>
            <a:ext cx="10516308" cy="802020"/>
          </a:xfrm>
          <a:prstGeom prst="rect">
            <a:avLst/>
          </a:prstGeom>
        </p:spPr>
        <p:txBody>
          <a:bodyPr anchor="t" rtlCol="false" tIns="0" lIns="0" bIns="0" rIns="0">
            <a:spAutoFit/>
          </a:bodyPr>
          <a:lstStyle/>
          <a:p>
            <a:pPr algn="l" marL="0" indent="0" lvl="0">
              <a:lnSpc>
                <a:spcPts val="5669"/>
              </a:lnSpc>
              <a:spcBef>
                <a:spcPct val="0"/>
              </a:spcBef>
            </a:pPr>
            <a:r>
              <a:rPr lang="en-US" b="true" sz="4049" strike="noStrike" u="none">
                <a:solidFill>
                  <a:srgbClr val="2B598F"/>
                </a:solidFill>
                <a:latin typeface="Agrandir Bold"/>
                <a:ea typeface="Agrandir Bold"/>
                <a:cs typeface="Agrandir Bold"/>
                <a:sym typeface="Agrandir Bold"/>
              </a:rPr>
              <a:t>Implementation Workflow</a:t>
            </a:r>
          </a:p>
        </p:txBody>
      </p:sp>
      <p:sp>
        <p:nvSpPr>
          <p:cNvPr name="Freeform 19" id="19"/>
          <p:cNvSpPr/>
          <p:nvPr/>
        </p:nvSpPr>
        <p:spPr>
          <a:xfrm flipH="false" flipV="false" rot="1433494">
            <a:off x="10649180" y="1938069"/>
            <a:ext cx="1413072" cy="1379521"/>
          </a:xfrm>
          <a:custGeom>
            <a:avLst/>
            <a:gdLst/>
            <a:ahLst/>
            <a:cxnLst/>
            <a:rect r="r" b="b" t="t" l="l"/>
            <a:pathLst>
              <a:path h="1379521" w="1413072">
                <a:moveTo>
                  <a:pt x="0" y="0"/>
                </a:moveTo>
                <a:lnTo>
                  <a:pt x="1413072" y="0"/>
                </a:lnTo>
                <a:lnTo>
                  <a:pt x="1413072" y="1379521"/>
                </a:lnTo>
                <a:lnTo>
                  <a:pt x="0" y="13795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441830" y="4545942"/>
            <a:ext cx="3784832" cy="224449"/>
          </a:xfrm>
          <a:prstGeom prst="rect">
            <a:avLst/>
          </a:prstGeom>
        </p:spPr>
        <p:txBody>
          <a:bodyPr anchor="t" rtlCol="false" tIns="0" lIns="0" bIns="0" rIns="0">
            <a:spAutoFit/>
          </a:bodyPr>
          <a:lstStyle/>
          <a:p>
            <a:pPr algn="l" marL="0" indent="0" lvl="0">
              <a:lnSpc>
                <a:spcPts val="1803"/>
              </a:lnSpc>
              <a:spcBef>
                <a:spcPct val="0"/>
              </a:spcBef>
            </a:pPr>
            <a:r>
              <a:rPr lang="en-US" b="true" sz="1288" spc="6">
                <a:solidFill>
                  <a:srgbClr val="181D2B"/>
                </a:solidFill>
                <a:latin typeface="Open Sauce Bold"/>
                <a:ea typeface="Open Sauce Bold"/>
                <a:cs typeface="Open Sauce Bold"/>
                <a:sym typeface="Open Sauce Bold"/>
              </a:rPr>
              <a:t>Step 1</a:t>
            </a:r>
          </a:p>
        </p:txBody>
      </p:sp>
      <p:sp>
        <p:nvSpPr>
          <p:cNvPr name="TextBox 21" id="21"/>
          <p:cNvSpPr txBox="true"/>
          <p:nvPr/>
        </p:nvSpPr>
        <p:spPr>
          <a:xfrm rot="0">
            <a:off x="1441830" y="5124002"/>
            <a:ext cx="4011851" cy="1175219"/>
          </a:xfrm>
          <a:prstGeom prst="rect">
            <a:avLst/>
          </a:prstGeom>
        </p:spPr>
        <p:txBody>
          <a:bodyPr anchor="t" rtlCol="false" tIns="0" lIns="0" bIns="0" rIns="0">
            <a:spAutoFit/>
          </a:bodyPr>
          <a:lstStyle/>
          <a:p>
            <a:pPr algn="l" marL="0" indent="0" lvl="0">
              <a:lnSpc>
                <a:spcPts val="1899"/>
              </a:lnSpc>
              <a:spcBef>
                <a:spcPct val="0"/>
              </a:spcBef>
            </a:pPr>
            <a:r>
              <a:rPr lang="en-US" sz="1356" spc="6" strike="noStrike" u="none">
                <a:solidFill>
                  <a:srgbClr val="181D2B"/>
                </a:solidFill>
                <a:latin typeface="Open Sauce"/>
                <a:ea typeface="Open Sauce"/>
                <a:cs typeface="Open Sauce"/>
                <a:sym typeface="Open Sauce"/>
              </a:rPr>
              <a:t>Network Reconnaissance &amp; Asset Discovery</a:t>
            </a:r>
          </a:p>
          <a:p>
            <a:pPr algn="l" marL="0" indent="0" lvl="0">
              <a:lnSpc>
                <a:spcPts val="1899"/>
              </a:lnSpc>
              <a:spcBef>
                <a:spcPct val="0"/>
              </a:spcBef>
            </a:pPr>
            <a:r>
              <a:rPr lang="en-US" sz="1356" spc="6" strike="noStrike" u="none">
                <a:solidFill>
                  <a:srgbClr val="181D2B"/>
                </a:solidFill>
                <a:latin typeface="Open Sauce"/>
                <a:ea typeface="Open Sauce"/>
                <a:cs typeface="Open Sauce"/>
                <a:sym typeface="Open Sauce"/>
              </a:rPr>
              <a:t>VAJRA scans and maps all connected devices, open ports, and active services across the target network infrastructure to build a comprehensive asset inventory.</a:t>
            </a:r>
          </a:p>
        </p:txBody>
      </p:sp>
      <p:sp>
        <p:nvSpPr>
          <p:cNvPr name="TextBox 22" id="22"/>
          <p:cNvSpPr txBox="true"/>
          <p:nvPr/>
        </p:nvSpPr>
        <p:spPr>
          <a:xfrm rot="0">
            <a:off x="12870414" y="2413092"/>
            <a:ext cx="3784832" cy="224449"/>
          </a:xfrm>
          <a:prstGeom prst="rect">
            <a:avLst/>
          </a:prstGeom>
        </p:spPr>
        <p:txBody>
          <a:bodyPr anchor="t" rtlCol="false" tIns="0" lIns="0" bIns="0" rIns="0">
            <a:spAutoFit/>
          </a:bodyPr>
          <a:lstStyle/>
          <a:p>
            <a:pPr algn="l" marL="0" indent="0" lvl="0">
              <a:lnSpc>
                <a:spcPts val="1803"/>
              </a:lnSpc>
              <a:spcBef>
                <a:spcPct val="0"/>
              </a:spcBef>
            </a:pPr>
            <a:r>
              <a:rPr lang="en-US" b="true" sz="1288" spc="6">
                <a:solidFill>
                  <a:srgbClr val="181D2B"/>
                </a:solidFill>
                <a:latin typeface="Open Sauce Bold"/>
                <a:ea typeface="Open Sauce Bold"/>
                <a:cs typeface="Open Sauce Bold"/>
                <a:sym typeface="Open Sauce Bold"/>
              </a:rPr>
              <a:t>Step 3</a:t>
            </a:r>
          </a:p>
        </p:txBody>
      </p:sp>
      <p:sp>
        <p:nvSpPr>
          <p:cNvPr name="TextBox 23" id="23"/>
          <p:cNvSpPr txBox="true"/>
          <p:nvPr/>
        </p:nvSpPr>
        <p:spPr>
          <a:xfrm rot="0">
            <a:off x="12870414" y="2991151"/>
            <a:ext cx="4011851" cy="1175219"/>
          </a:xfrm>
          <a:prstGeom prst="rect">
            <a:avLst/>
          </a:prstGeom>
        </p:spPr>
        <p:txBody>
          <a:bodyPr anchor="t" rtlCol="false" tIns="0" lIns="0" bIns="0" rIns="0">
            <a:spAutoFit/>
          </a:bodyPr>
          <a:lstStyle/>
          <a:p>
            <a:pPr algn="l" marL="0" indent="0" lvl="0">
              <a:lnSpc>
                <a:spcPts val="1899"/>
              </a:lnSpc>
              <a:spcBef>
                <a:spcPct val="0"/>
              </a:spcBef>
            </a:pPr>
            <a:r>
              <a:rPr lang="en-US" sz="1356" spc="6" strike="noStrike" u="none">
                <a:solidFill>
                  <a:srgbClr val="181D2B"/>
                </a:solidFill>
                <a:latin typeface="Open Sauce"/>
                <a:ea typeface="Open Sauce"/>
                <a:cs typeface="Open Sauce"/>
                <a:sym typeface="Open Sauce"/>
              </a:rPr>
              <a:t>Risk Reporting &amp; Remediation Guidance</a:t>
            </a:r>
          </a:p>
          <a:p>
            <a:pPr algn="l" marL="0" indent="0" lvl="0">
              <a:lnSpc>
                <a:spcPts val="1899"/>
              </a:lnSpc>
              <a:spcBef>
                <a:spcPct val="0"/>
              </a:spcBef>
            </a:pPr>
            <a:r>
              <a:rPr lang="en-US" sz="1356" spc="6" strike="noStrike" u="none">
                <a:solidFill>
                  <a:srgbClr val="181D2B"/>
                </a:solidFill>
                <a:latin typeface="Open Sauce"/>
                <a:ea typeface="Open Sauce"/>
                <a:cs typeface="Open Sauce"/>
                <a:sym typeface="Open Sauce"/>
              </a:rPr>
              <a:t>VAJRA generates detailed security reports with severity-ranked vulnerabilities, actionable remediation steps, and compliance insights for the security team.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176941" y="-3741"/>
            <a:ext cx="4107319" cy="4114800"/>
          </a:xfrm>
          <a:custGeom>
            <a:avLst/>
            <a:gdLst/>
            <a:ahLst/>
            <a:cxnLst/>
            <a:rect r="r" b="b" t="t" l="l"/>
            <a:pathLst>
              <a:path h="4114800" w="4107319">
                <a:moveTo>
                  <a:pt x="0" y="0"/>
                </a:moveTo>
                <a:lnTo>
                  <a:pt x="4107318" y="0"/>
                </a:lnTo>
                <a:lnTo>
                  <a:pt x="41073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600075"/>
            <a:ext cx="14152457" cy="1767362"/>
          </a:xfrm>
          <a:prstGeom prst="rect">
            <a:avLst/>
          </a:prstGeom>
        </p:spPr>
        <p:txBody>
          <a:bodyPr anchor="t" rtlCol="false" tIns="0" lIns="0" bIns="0" rIns="0">
            <a:spAutoFit/>
          </a:bodyPr>
          <a:lstStyle/>
          <a:p>
            <a:pPr algn="l" marL="0" indent="0" lvl="0">
              <a:lnSpc>
                <a:spcPts val="12311"/>
              </a:lnSpc>
              <a:spcBef>
                <a:spcPct val="0"/>
              </a:spcBef>
            </a:pPr>
            <a:r>
              <a:rPr lang="en-US" b="true" sz="8793" strike="noStrike" u="none">
                <a:solidFill>
                  <a:srgbClr val="2B598F"/>
                </a:solidFill>
                <a:latin typeface="Agrandir Bold"/>
                <a:ea typeface="Agrandir Bold"/>
                <a:cs typeface="Agrandir Bold"/>
                <a:sym typeface="Agrandir Bold"/>
              </a:rPr>
              <a:t>Results</a:t>
            </a:r>
          </a:p>
        </p:txBody>
      </p:sp>
      <p:sp>
        <p:nvSpPr>
          <p:cNvPr name="Freeform 4" id="4"/>
          <p:cNvSpPr/>
          <p:nvPr/>
        </p:nvSpPr>
        <p:spPr>
          <a:xfrm flipH="false" flipV="false" rot="5400000">
            <a:off x="3741" y="6175941"/>
            <a:ext cx="4107319" cy="4114800"/>
          </a:xfrm>
          <a:custGeom>
            <a:avLst/>
            <a:gdLst/>
            <a:ahLst/>
            <a:cxnLst/>
            <a:rect r="r" b="b" t="t" l="l"/>
            <a:pathLst>
              <a:path h="4114800" w="4107319">
                <a:moveTo>
                  <a:pt x="0" y="0"/>
                </a:moveTo>
                <a:lnTo>
                  <a:pt x="4107318" y="0"/>
                </a:lnTo>
                <a:lnTo>
                  <a:pt x="41073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5" id="5"/>
          <p:cNvPicPr>
            <a:picLocks noChangeAspect="true"/>
          </p:cNvPicPr>
          <p:nvPr/>
        </p:nvPicPr>
        <p:blipFill>
          <a:blip r:embed="rId4"/>
          <a:stretch>
            <a:fillRect/>
          </a:stretch>
        </p:blipFill>
        <p:spPr>
          <a:xfrm rot="0">
            <a:off x="307482" y="1833775"/>
            <a:ext cx="7363423" cy="8145743"/>
          </a:xfrm>
          <a:prstGeom prst="rect">
            <a:avLst/>
          </a:prstGeom>
        </p:spPr>
      </p:pic>
      <p:sp>
        <p:nvSpPr>
          <p:cNvPr name="Freeform 6" id="6"/>
          <p:cNvSpPr/>
          <p:nvPr/>
        </p:nvSpPr>
        <p:spPr>
          <a:xfrm flipH="false" flipV="false" rot="0">
            <a:off x="16562179" y="8474217"/>
            <a:ext cx="697121" cy="784083"/>
          </a:xfrm>
          <a:custGeom>
            <a:avLst/>
            <a:gdLst/>
            <a:ahLst/>
            <a:cxnLst/>
            <a:rect r="r" b="b" t="t" l="l"/>
            <a:pathLst>
              <a:path h="784083" w="697121">
                <a:moveTo>
                  <a:pt x="0" y="0"/>
                </a:moveTo>
                <a:lnTo>
                  <a:pt x="697121" y="0"/>
                </a:lnTo>
                <a:lnTo>
                  <a:pt x="697121" y="784083"/>
                </a:lnTo>
                <a:lnTo>
                  <a:pt x="0" y="7840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7" id="7"/>
          <p:cNvSpPr txBox="true"/>
          <p:nvPr/>
        </p:nvSpPr>
        <p:spPr>
          <a:xfrm rot="0">
            <a:off x="13818772" y="8462152"/>
            <a:ext cx="2432042" cy="296753"/>
          </a:xfrm>
          <a:prstGeom prst="rect">
            <a:avLst/>
          </a:prstGeom>
        </p:spPr>
        <p:txBody>
          <a:bodyPr anchor="t" rtlCol="false" tIns="0" lIns="0" bIns="0" rIns="0">
            <a:spAutoFit/>
          </a:bodyPr>
          <a:lstStyle/>
          <a:p>
            <a:pPr algn="r" marL="0" indent="0" lvl="0">
              <a:lnSpc>
                <a:spcPts val="2543"/>
              </a:lnSpc>
            </a:pPr>
            <a:r>
              <a:rPr lang="en-US" sz="1816" spc="9">
                <a:solidFill>
                  <a:srgbClr val="181D2B"/>
                </a:solidFill>
                <a:latin typeface="Open Sauce"/>
                <a:ea typeface="Open Sauce"/>
                <a:cs typeface="Open Sauce"/>
                <a:sym typeface="Open Sauce"/>
              </a:rPr>
              <a:t>Researcher</a:t>
            </a:r>
          </a:p>
        </p:txBody>
      </p:sp>
      <p:grpSp>
        <p:nvGrpSpPr>
          <p:cNvPr name="Group 8" id="8"/>
          <p:cNvGrpSpPr/>
          <p:nvPr/>
        </p:nvGrpSpPr>
        <p:grpSpPr>
          <a:xfrm rot="0">
            <a:off x="8284473" y="1511432"/>
            <a:ext cx="8974827" cy="5273869"/>
            <a:chOff x="0" y="0"/>
            <a:chExt cx="2368228" cy="1391640"/>
          </a:xfrm>
        </p:grpSpPr>
        <p:sp>
          <p:nvSpPr>
            <p:cNvPr name="Freeform 9" id="9"/>
            <p:cNvSpPr/>
            <p:nvPr/>
          </p:nvSpPr>
          <p:spPr>
            <a:xfrm flipH="false" flipV="false" rot="0">
              <a:off x="0" y="0"/>
              <a:ext cx="2368228" cy="1391640"/>
            </a:xfrm>
            <a:custGeom>
              <a:avLst/>
              <a:gdLst/>
              <a:ahLst/>
              <a:cxnLst/>
              <a:rect r="r" b="b" t="t" l="l"/>
              <a:pathLst>
                <a:path h="1391640" w="2368228">
                  <a:moveTo>
                    <a:pt x="25016" y="0"/>
                  </a:moveTo>
                  <a:lnTo>
                    <a:pt x="2343212" y="0"/>
                  </a:lnTo>
                  <a:cubicBezTo>
                    <a:pt x="2349847" y="0"/>
                    <a:pt x="2356210" y="2636"/>
                    <a:pt x="2360901" y="7327"/>
                  </a:cubicBezTo>
                  <a:cubicBezTo>
                    <a:pt x="2365592" y="12019"/>
                    <a:pt x="2368228" y="18381"/>
                    <a:pt x="2368228" y="25016"/>
                  </a:cubicBezTo>
                  <a:lnTo>
                    <a:pt x="2368228" y="1366623"/>
                  </a:lnTo>
                  <a:cubicBezTo>
                    <a:pt x="2368228" y="1373258"/>
                    <a:pt x="2365592" y="1379621"/>
                    <a:pt x="2360901" y="1384312"/>
                  </a:cubicBezTo>
                  <a:cubicBezTo>
                    <a:pt x="2356210" y="1389004"/>
                    <a:pt x="2349847" y="1391640"/>
                    <a:pt x="2343212" y="1391640"/>
                  </a:cubicBezTo>
                  <a:lnTo>
                    <a:pt x="25016" y="1391640"/>
                  </a:lnTo>
                  <a:cubicBezTo>
                    <a:pt x="18381" y="1391640"/>
                    <a:pt x="12019" y="1389004"/>
                    <a:pt x="7327" y="1384312"/>
                  </a:cubicBezTo>
                  <a:cubicBezTo>
                    <a:pt x="2636" y="1379621"/>
                    <a:pt x="0" y="1373258"/>
                    <a:pt x="0" y="1366623"/>
                  </a:cubicBezTo>
                  <a:lnTo>
                    <a:pt x="0" y="25016"/>
                  </a:lnTo>
                  <a:cubicBezTo>
                    <a:pt x="0" y="18381"/>
                    <a:pt x="2636" y="12019"/>
                    <a:pt x="7327" y="7327"/>
                  </a:cubicBezTo>
                  <a:cubicBezTo>
                    <a:pt x="12019" y="2636"/>
                    <a:pt x="18381" y="0"/>
                    <a:pt x="25016" y="0"/>
                  </a:cubicBezTo>
                  <a:close/>
                </a:path>
              </a:pathLst>
            </a:custGeom>
            <a:solidFill>
              <a:srgbClr val="FFFFFE"/>
            </a:solidFill>
            <a:ln w="19050" cap="rnd">
              <a:solidFill>
                <a:srgbClr val="181D2B"/>
              </a:solidFill>
              <a:prstDash val="solid"/>
              <a:round/>
            </a:ln>
          </p:spPr>
        </p:sp>
        <p:sp>
          <p:nvSpPr>
            <p:cNvPr name="TextBox 10" id="10"/>
            <p:cNvSpPr txBox="true"/>
            <p:nvPr/>
          </p:nvSpPr>
          <p:spPr>
            <a:xfrm>
              <a:off x="0" y="-38100"/>
              <a:ext cx="2368228" cy="1429740"/>
            </a:xfrm>
            <a:prstGeom prst="rect">
              <a:avLst/>
            </a:prstGeom>
          </p:spPr>
          <p:txBody>
            <a:bodyPr anchor="ctr" rtlCol="false" tIns="50704" lIns="50704" bIns="50704" rIns="50704"/>
            <a:lstStyle/>
            <a:p>
              <a:pPr algn="ctr" marL="0" indent="0" lvl="0">
                <a:lnSpc>
                  <a:spcPts val="3135"/>
                </a:lnSpc>
              </a:pPr>
            </a:p>
          </p:txBody>
        </p:sp>
      </p:grpSp>
      <p:sp>
        <p:nvSpPr>
          <p:cNvPr name="Freeform 11" id="11"/>
          <p:cNvSpPr/>
          <p:nvPr/>
        </p:nvSpPr>
        <p:spPr>
          <a:xfrm flipH="false" flipV="false" rot="0">
            <a:off x="8929948" y="2068488"/>
            <a:ext cx="428104" cy="428104"/>
          </a:xfrm>
          <a:custGeom>
            <a:avLst/>
            <a:gdLst/>
            <a:ahLst/>
            <a:cxnLst/>
            <a:rect r="r" b="b" t="t" l="l"/>
            <a:pathLst>
              <a:path h="428104" w="428104">
                <a:moveTo>
                  <a:pt x="0" y="0"/>
                </a:moveTo>
                <a:lnTo>
                  <a:pt x="428104" y="0"/>
                </a:lnTo>
                <a:lnTo>
                  <a:pt x="428104" y="428103"/>
                </a:lnTo>
                <a:lnTo>
                  <a:pt x="0" y="4281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929948" y="4386176"/>
            <a:ext cx="428104" cy="428104"/>
          </a:xfrm>
          <a:custGeom>
            <a:avLst/>
            <a:gdLst/>
            <a:ahLst/>
            <a:cxnLst/>
            <a:rect r="r" b="b" t="t" l="l"/>
            <a:pathLst>
              <a:path h="428104" w="428104">
                <a:moveTo>
                  <a:pt x="0" y="0"/>
                </a:moveTo>
                <a:lnTo>
                  <a:pt x="428104" y="0"/>
                </a:lnTo>
                <a:lnTo>
                  <a:pt x="428104" y="428104"/>
                </a:lnTo>
                <a:lnTo>
                  <a:pt x="0" y="4281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9632787" y="2059338"/>
            <a:ext cx="6860619" cy="1795683"/>
          </a:xfrm>
          <a:prstGeom prst="rect">
            <a:avLst/>
          </a:prstGeom>
        </p:spPr>
        <p:txBody>
          <a:bodyPr anchor="t" rtlCol="false" tIns="0" lIns="0" bIns="0" rIns="0">
            <a:spAutoFit/>
          </a:bodyPr>
          <a:lstStyle/>
          <a:p>
            <a:pPr algn="l" marL="0" indent="0" lvl="0">
              <a:lnSpc>
                <a:spcPts val="2875"/>
              </a:lnSpc>
              <a:spcBef>
                <a:spcPct val="0"/>
              </a:spcBef>
            </a:pPr>
            <a:r>
              <a:rPr lang="en-US" sz="2053" spc="10" strike="noStrike" u="none">
                <a:solidFill>
                  <a:srgbClr val="181D2B"/>
                </a:solidFill>
                <a:latin typeface="Open Sauce"/>
                <a:ea typeface="Open Sauce"/>
                <a:cs typeface="Open Sauce"/>
                <a:sym typeface="Open Sauce"/>
              </a:rPr>
              <a:t>VAJRA detected over 95% of simulated intrusion attempts during penetration testing, with a false positive rate of less than 2%, demonstrating high accuracy in real-time threat identification and network anomaly detection.</a:t>
            </a:r>
          </a:p>
        </p:txBody>
      </p:sp>
      <p:sp>
        <p:nvSpPr>
          <p:cNvPr name="TextBox 14" id="14"/>
          <p:cNvSpPr txBox="true"/>
          <p:nvPr/>
        </p:nvSpPr>
        <p:spPr>
          <a:xfrm rot="0">
            <a:off x="9632787" y="4377026"/>
            <a:ext cx="6860619" cy="1795683"/>
          </a:xfrm>
          <a:prstGeom prst="rect">
            <a:avLst/>
          </a:prstGeom>
        </p:spPr>
        <p:txBody>
          <a:bodyPr anchor="t" rtlCol="false" tIns="0" lIns="0" bIns="0" rIns="0">
            <a:spAutoFit/>
          </a:bodyPr>
          <a:lstStyle/>
          <a:p>
            <a:pPr algn="l" marL="0" indent="0" lvl="0">
              <a:lnSpc>
                <a:spcPts val="2875"/>
              </a:lnSpc>
              <a:spcBef>
                <a:spcPct val="0"/>
              </a:spcBef>
            </a:pPr>
            <a:r>
              <a:rPr lang="en-US" sz="2053" spc="10" strike="noStrike" u="none">
                <a:solidFill>
                  <a:srgbClr val="181D2B"/>
                </a:solidFill>
                <a:latin typeface="Open Sauce"/>
                <a:ea typeface="Open Sauce"/>
                <a:cs typeface="Open Sauce"/>
                <a:sym typeface="Open Sauce"/>
              </a:rPr>
              <a:t>System analysis revealed that VAJRA reduced average incident response time by 60%, enabling security teams to isolate and neutralize threats significantly faster compared to conventional monitoring tools.</a:t>
            </a:r>
          </a:p>
        </p:txBody>
      </p:sp>
      <p:sp>
        <p:nvSpPr>
          <p:cNvPr name="TextBox 15" id="15"/>
          <p:cNvSpPr txBox="true"/>
          <p:nvPr/>
        </p:nvSpPr>
        <p:spPr>
          <a:xfrm rot="0">
            <a:off x="13818772" y="8723031"/>
            <a:ext cx="2432042" cy="490905"/>
          </a:xfrm>
          <a:prstGeom prst="rect">
            <a:avLst/>
          </a:prstGeom>
        </p:spPr>
        <p:txBody>
          <a:bodyPr anchor="t" rtlCol="false" tIns="0" lIns="0" bIns="0" rIns="0">
            <a:spAutoFit/>
          </a:bodyPr>
          <a:lstStyle/>
          <a:p>
            <a:pPr algn="r" marL="0" indent="0" lvl="0">
              <a:lnSpc>
                <a:spcPts val="3917"/>
              </a:lnSpc>
            </a:pPr>
            <a:r>
              <a:rPr lang="en-US" b="true" sz="2798" spc="13">
                <a:solidFill>
                  <a:srgbClr val="181D2B"/>
                </a:solidFill>
                <a:latin typeface="Open Sauce Bold"/>
                <a:ea typeface="Open Sauce Bold"/>
                <a:cs typeface="Open Sauce Bold"/>
                <a:sym typeface="Open Sauce Bold"/>
              </a:rPr>
              <a:t>VAJRA Team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0" y="3184776"/>
            <a:ext cx="9209671" cy="12147047"/>
          </a:xfrm>
          <a:custGeom>
            <a:avLst/>
            <a:gdLst/>
            <a:ahLst/>
            <a:cxnLst/>
            <a:rect r="r" b="b" t="t" l="l"/>
            <a:pathLst>
              <a:path h="12147047" w="9209671">
                <a:moveTo>
                  <a:pt x="0" y="0"/>
                </a:moveTo>
                <a:lnTo>
                  <a:pt x="9209671" y="0"/>
                </a:lnTo>
                <a:lnTo>
                  <a:pt x="9209671" y="12147048"/>
                </a:lnTo>
                <a:lnTo>
                  <a:pt x="0" y="12147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7152271" cy="8229600"/>
          </a:xfrm>
          <a:custGeom>
            <a:avLst/>
            <a:gdLst/>
            <a:ahLst/>
            <a:cxnLst/>
            <a:rect r="r" b="b" t="t" l="l"/>
            <a:pathLst>
              <a:path h="8229600" w="7152271">
                <a:moveTo>
                  <a:pt x="0" y="0"/>
                </a:moveTo>
                <a:lnTo>
                  <a:pt x="7152271" y="0"/>
                </a:lnTo>
                <a:lnTo>
                  <a:pt x="7152271"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562179" y="8474217"/>
            <a:ext cx="697121" cy="784083"/>
          </a:xfrm>
          <a:custGeom>
            <a:avLst/>
            <a:gdLst/>
            <a:ahLst/>
            <a:cxnLst/>
            <a:rect r="r" b="b" t="t" l="l"/>
            <a:pathLst>
              <a:path h="784083" w="697121">
                <a:moveTo>
                  <a:pt x="0" y="0"/>
                </a:moveTo>
                <a:lnTo>
                  <a:pt x="697121" y="0"/>
                </a:lnTo>
                <a:lnTo>
                  <a:pt x="697121" y="784083"/>
                </a:lnTo>
                <a:lnTo>
                  <a:pt x="0" y="7840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13818772" y="8471677"/>
            <a:ext cx="2432042" cy="198120"/>
          </a:xfrm>
          <a:prstGeom prst="rect">
            <a:avLst/>
          </a:prstGeom>
        </p:spPr>
        <p:txBody>
          <a:bodyPr anchor="t" rtlCol="false" tIns="0" lIns="0" bIns="0" rIns="0">
            <a:spAutoFit/>
          </a:bodyPr>
          <a:lstStyle/>
          <a:p>
            <a:pPr algn="r" marL="0" indent="0" lvl="0">
              <a:lnSpc>
                <a:spcPts val="1679"/>
              </a:lnSpc>
            </a:pPr>
            <a:r>
              <a:rPr lang="en-US" sz="1200" spc="6">
                <a:solidFill>
                  <a:srgbClr val="181D2B"/>
                </a:solidFill>
                <a:latin typeface="Open Sauce"/>
                <a:ea typeface="Open Sauce"/>
                <a:cs typeface="Open Sauce"/>
                <a:sym typeface="Open Sauce"/>
              </a:rPr>
              <a:t>Project</a:t>
            </a:r>
          </a:p>
        </p:txBody>
      </p:sp>
      <p:sp>
        <p:nvSpPr>
          <p:cNvPr name="TextBox 6" id="6"/>
          <p:cNvSpPr txBox="true"/>
          <p:nvPr/>
        </p:nvSpPr>
        <p:spPr>
          <a:xfrm rot="0">
            <a:off x="13818772" y="8761131"/>
            <a:ext cx="2432042" cy="453049"/>
          </a:xfrm>
          <a:prstGeom prst="rect">
            <a:avLst/>
          </a:prstGeom>
        </p:spPr>
        <p:txBody>
          <a:bodyPr anchor="t" rtlCol="false" tIns="0" lIns="0" bIns="0" rIns="0">
            <a:spAutoFit/>
          </a:bodyPr>
          <a:lstStyle/>
          <a:p>
            <a:pPr algn="r" marL="0" indent="0" lvl="0">
              <a:lnSpc>
                <a:spcPts val="1803"/>
              </a:lnSpc>
            </a:pPr>
            <a:r>
              <a:rPr lang="en-US" b="true" sz="1288" spc="6">
                <a:solidFill>
                  <a:srgbClr val="181D2B"/>
                </a:solidFill>
                <a:latin typeface="Open Sauce Bold"/>
                <a:ea typeface="Open Sauce Bold"/>
                <a:cs typeface="Open Sauce Bold"/>
                <a:sym typeface="Open Sauce Bold"/>
              </a:rPr>
              <a:t>VAJRA - SECURITY AND ANALYSIS</a:t>
            </a:r>
          </a:p>
        </p:txBody>
      </p:sp>
      <p:sp>
        <p:nvSpPr>
          <p:cNvPr name="TextBox 7" id="7"/>
          <p:cNvSpPr txBox="true"/>
          <p:nvPr/>
        </p:nvSpPr>
        <p:spPr>
          <a:xfrm rot="0">
            <a:off x="9198174" y="986203"/>
            <a:ext cx="8061126" cy="802020"/>
          </a:xfrm>
          <a:prstGeom prst="rect">
            <a:avLst/>
          </a:prstGeom>
        </p:spPr>
        <p:txBody>
          <a:bodyPr anchor="t" rtlCol="false" tIns="0" lIns="0" bIns="0" rIns="0">
            <a:spAutoFit/>
          </a:bodyPr>
          <a:lstStyle/>
          <a:p>
            <a:pPr algn="r" marL="0" indent="0" lvl="0">
              <a:lnSpc>
                <a:spcPts val="5669"/>
              </a:lnSpc>
              <a:spcBef>
                <a:spcPct val="0"/>
              </a:spcBef>
            </a:pPr>
            <a:r>
              <a:rPr lang="en-US" b="true" sz="4049" strike="noStrike" u="none">
                <a:solidFill>
                  <a:srgbClr val="2B598F"/>
                </a:solidFill>
                <a:latin typeface="Agrandir Bold"/>
                <a:ea typeface="Agrandir Bold"/>
                <a:cs typeface="Agrandir Bold"/>
                <a:sym typeface="Agrandir Bold"/>
              </a:rPr>
              <a:t>Core Features</a:t>
            </a:r>
          </a:p>
        </p:txBody>
      </p:sp>
      <p:sp>
        <p:nvSpPr>
          <p:cNvPr name="TextBox 8" id="8"/>
          <p:cNvSpPr txBox="true"/>
          <p:nvPr/>
        </p:nvSpPr>
        <p:spPr>
          <a:xfrm rot="0">
            <a:off x="9831970" y="2848266"/>
            <a:ext cx="7427330" cy="1413344"/>
          </a:xfrm>
          <a:prstGeom prst="rect">
            <a:avLst/>
          </a:prstGeom>
        </p:spPr>
        <p:txBody>
          <a:bodyPr anchor="t" rtlCol="false" tIns="0" lIns="0" bIns="0" rIns="0">
            <a:spAutoFit/>
          </a:bodyPr>
          <a:lstStyle/>
          <a:p>
            <a:pPr algn="r" marL="0" indent="0" lvl="0">
              <a:lnSpc>
                <a:spcPts val="1899"/>
              </a:lnSpc>
              <a:spcBef>
                <a:spcPct val="0"/>
              </a:spcBef>
            </a:pPr>
            <a:r>
              <a:rPr lang="en-US" sz="1356" spc="6" strike="noStrike" u="none">
                <a:solidFill>
                  <a:srgbClr val="181D2B"/>
                </a:solidFill>
                <a:latin typeface="Open Sauce"/>
                <a:ea typeface="Open Sauce"/>
                <a:cs typeface="Open Sauce"/>
                <a:sym typeface="Open Sauce"/>
              </a:rPr>
              <a:t>VAJRA delivers real-time network traffic analysis, intrusion detection, and threat intelligence aggregation. It features automated vulnerability scanning, behavioral anomaly detection, and multi-layer firewall management. The system provides centralized log monitoring, incident response automation, and comprehensive security dashboards — enabling proactive defense and rapid mitigation across all network endpoints.</a:t>
            </a:r>
          </a:p>
        </p:txBody>
      </p:sp>
      <p:sp>
        <p:nvSpPr>
          <p:cNvPr name="Freeform 9" id="9"/>
          <p:cNvSpPr/>
          <p:nvPr/>
        </p:nvSpPr>
        <p:spPr>
          <a:xfrm flipH="false" flipV="false" rot="0">
            <a:off x="2551825" y="4508240"/>
            <a:ext cx="4073114" cy="4750060"/>
          </a:xfrm>
          <a:custGeom>
            <a:avLst/>
            <a:gdLst/>
            <a:ahLst/>
            <a:cxnLst/>
            <a:rect r="r" b="b" t="t" l="l"/>
            <a:pathLst>
              <a:path h="4750060" w="4073114">
                <a:moveTo>
                  <a:pt x="0" y="0"/>
                </a:moveTo>
                <a:lnTo>
                  <a:pt x="4073114" y="0"/>
                </a:lnTo>
                <a:lnTo>
                  <a:pt x="4073114" y="4750060"/>
                </a:lnTo>
                <a:lnTo>
                  <a:pt x="0" y="4750060"/>
                </a:lnTo>
                <a:lnTo>
                  <a:pt x="0" y="0"/>
                </a:lnTo>
                <a:close/>
              </a:path>
            </a:pathLst>
          </a:custGeom>
          <a:blipFill>
            <a:blip r:embed="rId8">
              <a:extLst>
                <a:ext uri="{96DAC541-7B7A-43D3-8B79-37D633B846F1}">
                  <asvg:svgBlip xmlns:asvg="http://schemas.microsoft.com/office/drawing/2016/SVG/main" r:embed="rId9"/>
                </a:ext>
              </a:extLst>
            </a:blip>
            <a:stretch>
              <a:fillRect l="-37394" t="-73252" r="-38202"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7744724" y="3888188"/>
            <a:ext cx="8280775" cy="7829097"/>
          </a:xfrm>
          <a:custGeom>
            <a:avLst/>
            <a:gdLst/>
            <a:ahLst/>
            <a:cxnLst/>
            <a:rect r="r" b="b" t="t" l="l"/>
            <a:pathLst>
              <a:path h="7829097" w="8280775">
                <a:moveTo>
                  <a:pt x="0" y="0"/>
                </a:moveTo>
                <a:lnTo>
                  <a:pt x="8280776" y="0"/>
                </a:lnTo>
                <a:lnTo>
                  <a:pt x="8280776" y="7829097"/>
                </a:lnTo>
                <a:lnTo>
                  <a:pt x="0" y="7829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32501" y="1814240"/>
            <a:ext cx="6626799" cy="6774609"/>
          </a:xfrm>
          <a:custGeom>
            <a:avLst/>
            <a:gdLst/>
            <a:ahLst/>
            <a:cxnLst/>
            <a:rect r="r" b="b" t="t" l="l"/>
            <a:pathLst>
              <a:path h="6774609" w="6626799">
                <a:moveTo>
                  <a:pt x="0" y="0"/>
                </a:moveTo>
                <a:lnTo>
                  <a:pt x="6626799" y="0"/>
                </a:lnTo>
                <a:lnTo>
                  <a:pt x="6626799" y="6774609"/>
                </a:lnTo>
                <a:lnTo>
                  <a:pt x="0" y="67746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474217"/>
            <a:ext cx="697121" cy="784083"/>
          </a:xfrm>
          <a:custGeom>
            <a:avLst/>
            <a:gdLst/>
            <a:ahLst/>
            <a:cxnLst/>
            <a:rect r="r" b="b" t="t" l="l"/>
            <a:pathLst>
              <a:path h="784083" w="697121">
                <a:moveTo>
                  <a:pt x="0" y="0"/>
                </a:moveTo>
                <a:lnTo>
                  <a:pt x="697121" y="0"/>
                </a:lnTo>
                <a:lnTo>
                  <a:pt x="697121" y="784083"/>
                </a:lnTo>
                <a:lnTo>
                  <a:pt x="0" y="7840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1963430" y="8445642"/>
            <a:ext cx="3817770" cy="247859"/>
          </a:xfrm>
          <a:prstGeom prst="rect">
            <a:avLst/>
          </a:prstGeom>
        </p:spPr>
        <p:txBody>
          <a:bodyPr anchor="t" rtlCol="false" tIns="0" lIns="0" bIns="0" rIns="0">
            <a:spAutoFit/>
          </a:bodyPr>
          <a:lstStyle/>
          <a:p>
            <a:pPr algn="l" marL="0" indent="0" lvl="0">
              <a:lnSpc>
                <a:spcPts val="2088"/>
              </a:lnSpc>
            </a:pPr>
            <a:r>
              <a:rPr lang="en-US" sz="1491" spc="7">
                <a:solidFill>
                  <a:srgbClr val="181D2B"/>
                </a:solidFill>
                <a:latin typeface="Open Sauce"/>
                <a:ea typeface="Open Sauce"/>
                <a:cs typeface="Open Sauce"/>
                <a:sym typeface="Open Sauce"/>
              </a:rPr>
              <a:t>Project Lead</a:t>
            </a:r>
          </a:p>
        </p:txBody>
      </p:sp>
      <p:sp>
        <p:nvSpPr>
          <p:cNvPr name="TextBox 6" id="6"/>
          <p:cNvSpPr txBox="true"/>
          <p:nvPr/>
        </p:nvSpPr>
        <p:spPr>
          <a:xfrm rot="0">
            <a:off x="1963430" y="8750935"/>
            <a:ext cx="3817770" cy="490905"/>
          </a:xfrm>
          <a:prstGeom prst="rect">
            <a:avLst/>
          </a:prstGeom>
        </p:spPr>
        <p:txBody>
          <a:bodyPr anchor="t" rtlCol="false" tIns="0" lIns="0" bIns="0" rIns="0">
            <a:spAutoFit/>
          </a:bodyPr>
          <a:lstStyle/>
          <a:p>
            <a:pPr algn="l" marL="0" indent="0" lvl="0">
              <a:lnSpc>
                <a:spcPts val="3917"/>
              </a:lnSpc>
            </a:pPr>
            <a:r>
              <a:rPr lang="en-US" b="true" sz="2798" spc="13">
                <a:solidFill>
                  <a:srgbClr val="181D2B"/>
                </a:solidFill>
                <a:latin typeface="Open Sauce Bold"/>
                <a:ea typeface="Open Sauce Bold"/>
                <a:cs typeface="Open Sauce Bold"/>
                <a:sym typeface="Open Sauce Bold"/>
              </a:rPr>
              <a:t>VAJRA Team</a:t>
            </a:r>
          </a:p>
        </p:txBody>
      </p:sp>
      <p:sp>
        <p:nvSpPr>
          <p:cNvPr name="TextBox 7" id="7"/>
          <p:cNvSpPr txBox="true"/>
          <p:nvPr/>
        </p:nvSpPr>
        <p:spPr>
          <a:xfrm rot="0">
            <a:off x="1028700" y="600075"/>
            <a:ext cx="11496725" cy="1767362"/>
          </a:xfrm>
          <a:prstGeom prst="rect">
            <a:avLst/>
          </a:prstGeom>
        </p:spPr>
        <p:txBody>
          <a:bodyPr anchor="t" rtlCol="false" tIns="0" lIns="0" bIns="0" rIns="0">
            <a:spAutoFit/>
          </a:bodyPr>
          <a:lstStyle/>
          <a:p>
            <a:pPr algn="l" marL="0" indent="0" lvl="0">
              <a:lnSpc>
                <a:spcPts val="12311"/>
              </a:lnSpc>
              <a:spcBef>
                <a:spcPct val="0"/>
              </a:spcBef>
            </a:pPr>
            <a:r>
              <a:rPr lang="en-US" b="true" sz="8793" strike="noStrike" u="none">
                <a:solidFill>
                  <a:srgbClr val="2B598F"/>
                </a:solidFill>
                <a:latin typeface="Agrandir Bold"/>
                <a:ea typeface="Agrandir Bold"/>
                <a:cs typeface="Agrandir Bold"/>
                <a:sym typeface="Agrandir Bold"/>
              </a:rPr>
              <a:t>Recommendations</a:t>
            </a:r>
          </a:p>
        </p:txBody>
      </p:sp>
      <p:sp>
        <p:nvSpPr>
          <p:cNvPr name="TextBox 8" id="8"/>
          <p:cNvSpPr txBox="true"/>
          <p:nvPr/>
        </p:nvSpPr>
        <p:spPr>
          <a:xfrm rot="0">
            <a:off x="1028700" y="2904573"/>
            <a:ext cx="7378847" cy="1868397"/>
          </a:xfrm>
          <a:prstGeom prst="rect">
            <a:avLst/>
          </a:prstGeom>
        </p:spPr>
        <p:txBody>
          <a:bodyPr anchor="t" rtlCol="false" tIns="0" lIns="0" bIns="0" rIns="0">
            <a:spAutoFit/>
          </a:bodyPr>
          <a:lstStyle/>
          <a:p>
            <a:pPr algn="l" marL="0" indent="0" lvl="0">
              <a:lnSpc>
                <a:spcPts val="2542"/>
              </a:lnSpc>
              <a:spcBef>
                <a:spcPct val="0"/>
              </a:spcBef>
            </a:pPr>
            <a:r>
              <a:rPr lang="en-US" sz="1816" spc="9" strike="noStrike" u="none">
                <a:solidFill>
                  <a:srgbClr val="181D2B"/>
                </a:solidFill>
                <a:latin typeface="Open Sauce"/>
                <a:ea typeface="Open Sauce"/>
                <a:cs typeface="Open Sauce"/>
                <a:sym typeface="Open Sauce"/>
              </a:rPr>
              <a:t>Integrate real-time threat intelligence feeds for proactive defense. Expand ML models to detect zero-day vulnerabilities and advanced persistent threats. Implement automated incident response workflows to reduce manual intervention. Enhance dashboard with predictive analytics and risk scoring for prioritized remediation.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3964245"/>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2340699" y="3553614"/>
            <a:ext cx="13606603" cy="1509466"/>
            <a:chOff x="0" y="0"/>
            <a:chExt cx="3590436" cy="398309"/>
          </a:xfrm>
        </p:grpSpPr>
        <p:sp>
          <p:nvSpPr>
            <p:cNvPr name="Freeform 4" id="4"/>
            <p:cNvSpPr/>
            <p:nvPr/>
          </p:nvSpPr>
          <p:spPr>
            <a:xfrm flipH="false" flipV="false" rot="0">
              <a:off x="0" y="0"/>
              <a:ext cx="3590435" cy="398310"/>
            </a:xfrm>
            <a:custGeom>
              <a:avLst/>
              <a:gdLst/>
              <a:ahLst/>
              <a:cxnLst/>
              <a:rect r="r" b="b" t="t" l="l"/>
              <a:pathLst>
                <a:path h="398310" w="3590435">
                  <a:moveTo>
                    <a:pt x="16500" y="0"/>
                  </a:moveTo>
                  <a:lnTo>
                    <a:pt x="3573935" y="0"/>
                  </a:lnTo>
                  <a:cubicBezTo>
                    <a:pt x="3578311" y="0"/>
                    <a:pt x="3582508" y="1738"/>
                    <a:pt x="3585602" y="4833"/>
                  </a:cubicBezTo>
                  <a:cubicBezTo>
                    <a:pt x="3588697" y="7927"/>
                    <a:pt x="3590435" y="12124"/>
                    <a:pt x="3590435" y="16500"/>
                  </a:cubicBezTo>
                  <a:lnTo>
                    <a:pt x="3590435" y="381809"/>
                  </a:lnTo>
                  <a:cubicBezTo>
                    <a:pt x="3590435" y="386185"/>
                    <a:pt x="3588697" y="390382"/>
                    <a:pt x="3585602" y="393477"/>
                  </a:cubicBezTo>
                  <a:cubicBezTo>
                    <a:pt x="3582508" y="396571"/>
                    <a:pt x="3578311" y="398310"/>
                    <a:pt x="3573935" y="398310"/>
                  </a:cubicBezTo>
                  <a:lnTo>
                    <a:pt x="16500" y="398310"/>
                  </a:lnTo>
                  <a:cubicBezTo>
                    <a:pt x="12124" y="398310"/>
                    <a:pt x="7927" y="396571"/>
                    <a:pt x="4833" y="393477"/>
                  </a:cubicBezTo>
                  <a:cubicBezTo>
                    <a:pt x="1738" y="390382"/>
                    <a:pt x="0" y="386185"/>
                    <a:pt x="0" y="381809"/>
                  </a:cubicBezTo>
                  <a:lnTo>
                    <a:pt x="0" y="16500"/>
                  </a:lnTo>
                  <a:cubicBezTo>
                    <a:pt x="0" y="12124"/>
                    <a:pt x="1738" y="7927"/>
                    <a:pt x="4833" y="4833"/>
                  </a:cubicBezTo>
                  <a:cubicBezTo>
                    <a:pt x="7927" y="1738"/>
                    <a:pt x="12124" y="0"/>
                    <a:pt x="16500" y="0"/>
                  </a:cubicBezTo>
                  <a:close/>
                </a:path>
              </a:pathLst>
            </a:custGeom>
            <a:solidFill>
              <a:srgbClr val="FFFFFE"/>
            </a:solidFill>
            <a:ln w="19050" cap="rnd">
              <a:solidFill>
                <a:srgbClr val="181D2B"/>
              </a:solidFill>
              <a:prstDash val="solid"/>
              <a:round/>
            </a:ln>
          </p:spPr>
        </p:sp>
        <p:sp>
          <p:nvSpPr>
            <p:cNvPr name="TextBox 5" id="5"/>
            <p:cNvSpPr txBox="true"/>
            <p:nvPr/>
          </p:nvSpPr>
          <p:spPr>
            <a:xfrm>
              <a:off x="0" y="-38100"/>
              <a:ext cx="3590436" cy="436409"/>
            </a:xfrm>
            <a:prstGeom prst="rect">
              <a:avLst/>
            </a:prstGeom>
          </p:spPr>
          <p:txBody>
            <a:bodyPr anchor="ctr" rtlCol="false" tIns="50704" lIns="50704" bIns="50704" rIns="50704"/>
            <a:lstStyle/>
            <a:p>
              <a:pPr algn="ctr" marL="0" indent="0" lvl="0">
                <a:lnSpc>
                  <a:spcPts val="3135"/>
                </a:lnSpc>
              </a:pPr>
            </a:p>
          </p:txBody>
        </p:sp>
      </p:grpSp>
      <p:sp>
        <p:nvSpPr>
          <p:cNvPr name="TextBox 6" id="6"/>
          <p:cNvSpPr txBox="true"/>
          <p:nvPr/>
        </p:nvSpPr>
        <p:spPr>
          <a:xfrm rot="0">
            <a:off x="2810024" y="3832952"/>
            <a:ext cx="12667952" cy="844453"/>
          </a:xfrm>
          <a:prstGeom prst="rect">
            <a:avLst/>
          </a:prstGeom>
        </p:spPr>
        <p:txBody>
          <a:bodyPr anchor="t" rtlCol="false" tIns="0" lIns="0" bIns="0" rIns="0">
            <a:spAutoFit/>
          </a:bodyPr>
          <a:lstStyle/>
          <a:p>
            <a:pPr algn="ctr" marL="0" indent="0" lvl="0">
              <a:lnSpc>
                <a:spcPts val="2280"/>
              </a:lnSpc>
              <a:spcBef>
                <a:spcPct val="0"/>
              </a:spcBef>
            </a:pPr>
            <a:r>
              <a:rPr lang="en-US" sz="1628" spc="8" strike="noStrike" u="none">
                <a:solidFill>
                  <a:srgbClr val="181D2B"/>
                </a:solidFill>
                <a:latin typeface="Open Sauce"/>
                <a:ea typeface="Open Sauce"/>
                <a:cs typeface="Open Sauce"/>
                <a:sym typeface="Open Sauce"/>
              </a:rPr>
              <a:t>VAJRA - Security and Analysis successfully demonstrates a robust, intelligent framework for real-time threat detection, vulnerability assessment, and network monitoring. The project integrates advanced analytical modules that deliver actionable insights, enabling organizations to proactively identify and neutralize security risks before they escalate.</a:t>
            </a:r>
          </a:p>
        </p:txBody>
      </p:sp>
      <p:sp>
        <p:nvSpPr>
          <p:cNvPr name="Freeform 7" id="7"/>
          <p:cNvSpPr/>
          <p:nvPr/>
        </p:nvSpPr>
        <p:spPr>
          <a:xfrm flipH="false" flipV="false" rot="0">
            <a:off x="1028700" y="8474217"/>
            <a:ext cx="697121" cy="784083"/>
          </a:xfrm>
          <a:custGeom>
            <a:avLst/>
            <a:gdLst/>
            <a:ahLst/>
            <a:cxnLst/>
            <a:rect r="r" b="b" t="t" l="l"/>
            <a:pathLst>
              <a:path h="784083" w="697121">
                <a:moveTo>
                  <a:pt x="0" y="0"/>
                </a:moveTo>
                <a:lnTo>
                  <a:pt x="697121" y="0"/>
                </a:lnTo>
                <a:lnTo>
                  <a:pt x="697121" y="784083"/>
                </a:lnTo>
                <a:lnTo>
                  <a:pt x="0" y="7840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8" id="8"/>
          <p:cNvSpPr txBox="true"/>
          <p:nvPr/>
        </p:nvSpPr>
        <p:spPr>
          <a:xfrm rot="0">
            <a:off x="1963430" y="8445642"/>
            <a:ext cx="3817770" cy="239557"/>
          </a:xfrm>
          <a:prstGeom prst="rect">
            <a:avLst/>
          </a:prstGeom>
        </p:spPr>
        <p:txBody>
          <a:bodyPr anchor="t" rtlCol="false" tIns="0" lIns="0" bIns="0" rIns="0">
            <a:spAutoFit/>
          </a:bodyPr>
          <a:lstStyle/>
          <a:p>
            <a:pPr algn="l" marL="0" indent="0" lvl="0">
              <a:lnSpc>
                <a:spcPts val="2021"/>
              </a:lnSpc>
            </a:pPr>
            <a:r>
              <a:rPr lang="en-US" sz="1443" spc="7">
                <a:solidFill>
                  <a:srgbClr val="181D2B"/>
                </a:solidFill>
                <a:latin typeface="Open Sauce"/>
                <a:ea typeface="Open Sauce"/>
                <a:cs typeface="Open Sauce"/>
                <a:sym typeface="Open Sauce"/>
              </a:rPr>
              <a:t>Researcher</a:t>
            </a:r>
          </a:p>
        </p:txBody>
      </p:sp>
      <p:grpSp>
        <p:nvGrpSpPr>
          <p:cNvPr name="Group 9" id="9"/>
          <p:cNvGrpSpPr/>
          <p:nvPr/>
        </p:nvGrpSpPr>
        <p:grpSpPr>
          <a:xfrm rot="0">
            <a:off x="2340699" y="5454367"/>
            <a:ext cx="13606603" cy="1509466"/>
            <a:chOff x="0" y="0"/>
            <a:chExt cx="3590436" cy="398309"/>
          </a:xfrm>
        </p:grpSpPr>
        <p:sp>
          <p:nvSpPr>
            <p:cNvPr name="Freeform 10" id="10"/>
            <p:cNvSpPr/>
            <p:nvPr/>
          </p:nvSpPr>
          <p:spPr>
            <a:xfrm flipH="false" flipV="false" rot="0">
              <a:off x="0" y="0"/>
              <a:ext cx="3590435" cy="398310"/>
            </a:xfrm>
            <a:custGeom>
              <a:avLst/>
              <a:gdLst/>
              <a:ahLst/>
              <a:cxnLst/>
              <a:rect r="r" b="b" t="t" l="l"/>
              <a:pathLst>
                <a:path h="398310" w="3590435">
                  <a:moveTo>
                    <a:pt x="16500" y="0"/>
                  </a:moveTo>
                  <a:lnTo>
                    <a:pt x="3573935" y="0"/>
                  </a:lnTo>
                  <a:cubicBezTo>
                    <a:pt x="3578311" y="0"/>
                    <a:pt x="3582508" y="1738"/>
                    <a:pt x="3585602" y="4833"/>
                  </a:cubicBezTo>
                  <a:cubicBezTo>
                    <a:pt x="3588697" y="7927"/>
                    <a:pt x="3590435" y="12124"/>
                    <a:pt x="3590435" y="16500"/>
                  </a:cubicBezTo>
                  <a:lnTo>
                    <a:pt x="3590435" y="381809"/>
                  </a:lnTo>
                  <a:cubicBezTo>
                    <a:pt x="3590435" y="386185"/>
                    <a:pt x="3588697" y="390382"/>
                    <a:pt x="3585602" y="393477"/>
                  </a:cubicBezTo>
                  <a:cubicBezTo>
                    <a:pt x="3582508" y="396571"/>
                    <a:pt x="3578311" y="398310"/>
                    <a:pt x="3573935" y="398310"/>
                  </a:cubicBezTo>
                  <a:lnTo>
                    <a:pt x="16500" y="398310"/>
                  </a:lnTo>
                  <a:cubicBezTo>
                    <a:pt x="12124" y="398310"/>
                    <a:pt x="7927" y="396571"/>
                    <a:pt x="4833" y="393477"/>
                  </a:cubicBezTo>
                  <a:cubicBezTo>
                    <a:pt x="1738" y="390382"/>
                    <a:pt x="0" y="386185"/>
                    <a:pt x="0" y="381809"/>
                  </a:cubicBezTo>
                  <a:lnTo>
                    <a:pt x="0" y="16500"/>
                  </a:lnTo>
                  <a:cubicBezTo>
                    <a:pt x="0" y="12124"/>
                    <a:pt x="1738" y="7927"/>
                    <a:pt x="4833" y="4833"/>
                  </a:cubicBezTo>
                  <a:cubicBezTo>
                    <a:pt x="7927" y="1738"/>
                    <a:pt x="12124" y="0"/>
                    <a:pt x="16500" y="0"/>
                  </a:cubicBezTo>
                  <a:close/>
                </a:path>
              </a:pathLst>
            </a:custGeom>
            <a:solidFill>
              <a:srgbClr val="FFFFFE"/>
            </a:solidFill>
            <a:ln w="19050" cap="rnd">
              <a:solidFill>
                <a:srgbClr val="181D2B"/>
              </a:solidFill>
              <a:prstDash val="solid"/>
              <a:round/>
            </a:ln>
          </p:spPr>
        </p:sp>
        <p:sp>
          <p:nvSpPr>
            <p:cNvPr name="TextBox 11" id="11"/>
            <p:cNvSpPr txBox="true"/>
            <p:nvPr/>
          </p:nvSpPr>
          <p:spPr>
            <a:xfrm>
              <a:off x="0" y="-38100"/>
              <a:ext cx="3590436" cy="436409"/>
            </a:xfrm>
            <a:prstGeom prst="rect">
              <a:avLst/>
            </a:prstGeom>
          </p:spPr>
          <p:txBody>
            <a:bodyPr anchor="ctr" rtlCol="false" tIns="50704" lIns="50704" bIns="50704" rIns="50704"/>
            <a:lstStyle/>
            <a:p>
              <a:pPr algn="ctr" marL="0" indent="0" lvl="0">
                <a:lnSpc>
                  <a:spcPts val="3135"/>
                </a:lnSpc>
              </a:pPr>
            </a:p>
          </p:txBody>
        </p:sp>
      </p:grpSp>
      <p:sp>
        <p:nvSpPr>
          <p:cNvPr name="TextBox 12" id="12"/>
          <p:cNvSpPr txBox="true"/>
          <p:nvPr/>
        </p:nvSpPr>
        <p:spPr>
          <a:xfrm rot="0">
            <a:off x="2810024" y="5733706"/>
            <a:ext cx="12667952" cy="844453"/>
          </a:xfrm>
          <a:prstGeom prst="rect">
            <a:avLst/>
          </a:prstGeom>
        </p:spPr>
        <p:txBody>
          <a:bodyPr anchor="t" rtlCol="false" tIns="0" lIns="0" bIns="0" rIns="0">
            <a:spAutoFit/>
          </a:bodyPr>
          <a:lstStyle/>
          <a:p>
            <a:pPr algn="ctr" marL="0" indent="0" lvl="0">
              <a:lnSpc>
                <a:spcPts val="2280"/>
              </a:lnSpc>
              <a:spcBef>
                <a:spcPct val="0"/>
              </a:spcBef>
            </a:pPr>
            <a:r>
              <a:rPr lang="en-US" sz="1628" spc="8" strike="noStrike" u="none">
                <a:solidFill>
                  <a:srgbClr val="181D2B"/>
                </a:solidFill>
                <a:latin typeface="Open Sauce"/>
                <a:ea typeface="Open Sauce"/>
                <a:cs typeface="Open Sauce"/>
                <a:sym typeface="Open Sauce"/>
              </a:rPr>
              <a:t>The implementation of VAJRA marks a significant advancement in cybersecurity tooling, combining automation, deep analysis, and intuitive reporting into a unified platform. Its scalable architecture ensures adaptability across diverse enterprise environments, making it a reliable solution for modern security challenges and a strong foundation for future enhancements.</a:t>
            </a:r>
          </a:p>
        </p:txBody>
      </p:sp>
      <p:sp>
        <p:nvSpPr>
          <p:cNvPr name="TextBox 13" id="13"/>
          <p:cNvSpPr txBox="true"/>
          <p:nvPr/>
        </p:nvSpPr>
        <p:spPr>
          <a:xfrm rot="0">
            <a:off x="2067772" y="1162763"/>
            <a:ext cx="14152457" cy="1767362"/>
          </a:xfrm>
          <a:prstGeom prst="rect">
            <a:avLst/>
          </a:prstGeom>
        </p:spPr>
        <p:txBody>
          <a:bodyPr anchor="t" rtlCol="false" tIns="0" lIns="0" bIns="0" rIns="0">
            <a:spAutoFit/>
          </a:bodyPr>
          <a:lstStyle/>
          <a:p>
            <a:pPr algn="ctr" marL="0" indent="0" lvl="0">
              <a:lnSpc>
                <a:spcPts val="12311"/>
              </a:lnSpc>
              <a:spcBef>
                <a:spcPct val="0"/>
              </a:spcBef>
            </a:pPr>
            <a:r>
              <a:rPr lang="en-US" b="true" sz="8793" strike="noStrike" u="none">
                <a:solidFill>
                  <a:srgbClr val="2B598F"/>
                </a:solidFill>
                <a:latin typeface="Agrandir Bold"/>
                <a:ea typeface="Agrandir Bold"/>
                <a:cs typeface="Agrandir Bold"/>
                <a:sym typeface="Agrandir Bold"/>
              </a:rPr>
              <a:t>Conclusion</a:t>
            </a:r>
          </a:p>
        </p:txBody>
      </p:sp>
      <p:sp>
        <p:nvSpPr>
          <p:cNvPr name="TextBox 14" id="14"/>
          <p:cNvSpPr txBox="true"/>
          <p:nvPr/>
        </p:nvSpPr>
        <p:spPr>
          <a:xfrm rot="0">
            <a:off x="1594003" y="8618524"/>
            <a:ext cx="2432042" cy="490905"/>
          </a:xfrm>
          <a:prstGeom prst="rect">
            <a:avLst/>
          </a:prstGeom>
        </p:spPr>
        <p:txBody>
          <a:bodyPr anchor="t" rtlCol="false" tIns="0" lIns="0" bIns="0" rIns="0">
            <a:spAutoFit/>
          </a:bodyPr>
          <a:lstStyle/>
          <a:p>
            <a:pPr algn="r" marL="0" indent="0" lvl="0">
              <a:lnSpc>
                <a:spcPts val="3917"/>
              </a:lnSpc>
            </a:pPr>
            <a:r>
              <a:rPr lang="en-US" b="true" sz="2798" spc="13">
                <a:solidFill>
                  <a:srgbClr val="181D2B"/>
                </a:solidFill>
                <a:latin typeface="Open Sauce Bold"/>
                <a:ea typeface="Open Sauce Bold"/>
                <a:cs typeface="Open Sauce Bold"/>
                <a:sym typeface="Open Sauce Bold"/>
              </a:rPr>
              <a:t>VAJRA Team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11859442" y="8121257"/>
            <a:ext cx="429652" cy="429652"/>
          </a:xfrm>
          <a:custGeom>
            <a:avLst/>
            <a:gdLst/>
            <a:ahLst/>
            <a:cxnLst/>
            <a:rect r="r" b="b" t="t" l="l"/>
            <a:pathLst>
              <a:path h="429652" w="429652">
                <a:moveTo>
                  <a:pt x="0" y="0"/>
                </a:moveTo>
                <a:lnTo>
                  <a:pt x="429652" y="0"/>
                </a:lnTo>
                <a:lnTo>
                  <a:pt x="429652" y="429653"/>
                </a:lnTo>
                <a:lnTo>
                  <a:pt x="0" y="429653"/>
                </a:lnTo>
                <a:lnTo>
                  <a:pt x="0" y="0"/>
                </a:lnTo>
                <a:close/>
              </a:path>
            </a:pathLst>
          </a:custGeom>
          <a:blipFill>
            <a:blip r:embed="rId2">
              <a:extLst>
                <a:ext uri="{96DAC541-7B7A-43D3-8B79-37D633B846F1}">
                  <asvg:svgBlip xmlns:asvg="http://schemas.microsoft.com/office/drawing/2016/SVG/main" r:embed="rId3"/>
                </a:ext>
              </a:extLst>
            </a:blip>
            <a:stretch>
              <a:fillRect l="-139655" t="0" r="-139655" b="0"/>
            </a:stretch>
          </a:blipFill>
        </p:spPr>
      </p:sp>
      <p:sp>
        <p:nvSpPr>
          <p:cNvPr name="Freeform 3" id="3"/>
          <p:cNvSpPr/>
          <p:nvPr/>
        </p:nvSpPr>
        <p:spPr>
          <a:xfrm flipH="false" flipV="false" rot="0">
            <a:off x="12073752" y="8152505"/>
            <a:ext cx="537066" cy="367158"/>
          </a:xfrm>
          <a:custGeom>
            <a:avLst/>
            <a:gdLst/>
            <a:ahLst/>
            <a:cxnLst/>
            <a:rect r="r" b="b" t="t" l="l"/>
            <a:pathLst>
              <a:path h="367158" w="537066">
                <a:moveTo>
                  <a:pt x="0" y="0"/>
                </a:moveTo>
                <a:lnTo>
                  <a:pt x="537065" y="0"/>
                </a:lnTo>
                <a:lnTo>
                  <a:pt x="537065" y="367158"/>
                </a:lnTo>
                <a:lnTo>
                  <a:pt x="0" y="3671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859442" y="8774941"/>
            <a:ext cx="429652" cy="429652"/>
          </a:xfrm>
          <a:custGeom>
            <a:avLst/>
            <a:gdLst/>
            <a:ahLst/>
            <a:cxnLst/>
            <a:rect r="r" b="b" t="t" l="l"/>
            <a:pathLst>
              <a:path h="429652" w="429652">
                <a:moveTo>
                  <a:pt x="0" y="0"/>
                </a:moveTo>
                <a:lnTo>
                  <a:pt x="429652" y="0"/>
                </a:lnTo>
                <a:lnTo>
                  <a:pt x="429652" y="429652"/>
                </a:lnTo>
                <a:lnTo>
                  <a:pt x="0" y="429652"/>
                </a:lnTo>
                <a:lnTo>
                  <a:pt x="0" y="0"/>
                </a:lnTo>
                <a:close/>
              </a:path>
            </a:pathLst>
          </a:custGeom>
          <a:blipFill>
            <a:blip r:embed="rId2">
              <a:extLst>
                <a:ext uri="{96DAC541-7B7A-43D3-8B79-37D633B846F1}">
                  <asvg:svgBlip xmlns:asvg="http://schemas.microsoft.com/office/drawing/2016/SVG/main" r:embed="rId3"/>
                </a:ext>
              </a:extLst>
            </a:blip>
            <a:stretch>
              <a:fillRect l="-139655" t="0" r="-139655" b="0"/>
            </a:stretch>
          </a:blipFill>
        </p:spPr>
      </p:sp>
      <p:sp>
        <p:nvSpPr>
          <p:cNvPr name="Freeform 5" id="5"/>
          <p:cNvSpPr/>
          <p:nvPr/>
        </p:nvSpPr>
        <p:spPr>
          <a:xfrm flipH="false" flipV="false" rot="0">
            <a:off x="12073752" y="8721234"/>
            <a:ext cx="537066" cy="537066"/>
          </a:xfrm>
          <a:custGeom>
            <a:avLst/>
            <a:gdLst/>
            <a:ahLst/>
            <a:cxnLst/>
            <a:rect r="r" b="b" t="t" l="l"/>
            <a:pathLst>
              <a:path h="537066" w="537066">
                <a:moveTo>
                  <a:pt x="0" y="0"/>
                </a:moveTo>
                <a:lnTo>
                  <a:pt x="537065" y="0"/>
                </a:lnTo>
                <a:lnTo>
                  <a:pt x="537065" y="537066"/>
                </a:lnTo>
                <a:lnTo>
                  <a:pt x="0" y="5370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1859442" y="7454326"/>
            <a:ext cx="429652" cy="429652"/>
          </a:xfrm>
          <a:custGeom>
            <a:avLst/>
            <a:gdLst/>
            <a:ahLst/>
            <a:cxnLst/>
            <a:rect r="r" b="b" t="t" l="l"/>
            <a:pathLst>
              <a:path h="429652" w="429652">
                <a:moveTo>
                  <a:pt x="0" y="0"/>
                </a:moveTo>
                <a:lnTo>
                  <a:pt x="429652" y="0"/>
                </a:lnTo>
                <a:lnTo>
                  <a:pt x="429652" y="429653"/>
                </a:lnTo>
                <a:lnTo>
                  <a:pt x="0" y="429653"/>
                </a:lnTo>
                <a:lnTo>
                  <a:pt x="0" y="0"/>
                </a:lnTo>
                <a:close/>
              </a:path>
            </a:pathLst>
          </a:custGeom>
          <a:blipFill>
            <a:blip r:embed="rId2">
              <a:extLst>
                <a:ext uri="{96DAC541-7B7A-43D3-8B79-37D633B846F1}">
                  <asvg:svgBlip xmlns:asvg="http://schemas.microsoft.com/office/drawing/2016/SVG/main" r:embed="rId3"/>
                </a:ext>
              </a:extLst>
            </a:blip>
            <a:stretch>
              <a:fillRect l="-139655" t="0" r="-139655" b="0"/>
            </a:stretch>
          </a:blipFill>
        </p:spPr>
      </p:sp>
      <p:sp>
        <p:nvSpPr>
          <p:cNvPr name="Freeform 7" id="7"/>
          <p:cNvSpPr/>
          <p:nvPr/>
        </p:nvSpPr>
        <p:spPr>
          <a:xfrm flipH="false" flipV="false" rot="0">
            <a:off x="12073752" y="7400620"/>
            <a:ext cx="537066" cy="537066"/>
          </a:xfrm>
          <a:custGeom>
            <a:avLst/>
            <a:gdLst/>
            <a:ahLst/>
            <a:cxnLst/>
            <a:rect r="r" b="b" t="t" l="l"/>
            <a:pathLst>
              <a:path h="537066" w="537066">
                <a:moveTo>
                  <a:pt x="0" y="0"/>
                </a:moveTo>
                <a:lnTo>
                  <a:pt x="537065" y="0"/>
                </a:lnTo>
                <a:lnTo>
                  <a:pt x="537065" y="537065"/>
                </a:lnTo>
                <a:lnTo>
                  <a:pt x="0" y="5370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531290" y="1560604"/>
            <a:ext cx="6560653" cy="6560653"/>
          </a:xfrm>
          <a:custGeom>
            <a:avLst/>
            <a:gdLst/>
            <a:ahLst/>
            <a:cxnLst/>
            <a:rect r="r" b="b" t="t" l="l"/>
            <a:pathLst>
              <a:path h="6560653" w="6560653">
                <a:moveTo>
                  <a:pt x="0" y="0"/>
                </a:moveTo>
                <a:lnTo>
                  <a:pt x="6560653" y="0"/>
                </a:lnTo>
                <a:lnTo>
                  <a:pt x="6560653" y="6560653"/>
                </a:lnTo>
                <a:lnTo>
                  <a:pt x="0" y="65606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1028700" y="600075"/>
            <a:ext cx="14152457" cy="1767362"/>
          </a:xfrm>
          <a:prstGeom prst="rect">
            <a:avLst/>
          </a:prstGeom>
        </p:spPr>
        <p:txBody>
          <a:bodyPr anchor="t" rtlCol="false" tIns="0" lIns="0" bIns="0" rIns="0">
            <a:spAutoFit/>
          </a:bodyPr>
          <a:lstStyle/>
          <a:p>
            <a:pPr algn="l" marL="0" indent="0" lvl="0">
              <a:lnSpc>
                <a:spcPts val="12311"/>
              </a:lnSpc>
              <a:spcBef>
                <a:spcPct val="0"/>
              </a:spcBef>
            </a:pPr>
            <a:r>
              <a:rPr lang="en-US" b="true" sz="8793" strike="noStrike" u="none">
                <a:solidFill>
                  <a:srgbClr val="2B598F"/>
                </a:solidFill>
                <a:latin typeface="Agrandir Bold"/>
                <a:ea typeface="Agrandir Bold"/>
                <a:cs typeface="Agrandir Bold"/>
                <a:sym typeface="Agrandir Bold"/>
              </a:rPr>
              <a:t>Thank You</a:t>
            </a:r>
          </a:p>
        </p:txBody>
      </p:sp>
      <p:sp>
        <p:nvSpPr>
          <p:cNvPr name="TextBox 10" id="10"/>
          <p:cNvSpPr txBox="true"/>
          <p:nvPr/>
        </p:nvSpPr>
        <p:spPr>
          <a:xfrm rot="0">
            <a:off x="12863661" y="7201974"/>
            <a:ext cx="5071885" cy="2049345"/>
          </a:xfrm>
          <a:prstGeom prst="rect">
            <a:avLst/>
          </a:prstGeom>
        </p:spPr>
        <p:txBody>
          <a:bodyPr anchor="t" rtlCol="false" tIns="0" lIns="0" bIns="0" rIns="0">
            <a:spAutoFit/>
          </a:bodyPr>
          <a:lstStyle/>
          <a:p>
            <a:pPr algn="l">
              <a:lnSpc>
                <a:spcPts val="5596"/>
              </a:lnSpc>
            </a:pPr>
            <a:r>
              <a:rPr lang="en-US" sz="2798" spc="-55">
                <a:solidFill>
                  <a:srgbClr val="181D2B"/>
                </a:solidFill>
                <a:latin typeface="Open Sauce"/>
                <a:ea typeface="Open Sauce"/>
                <a:cs typeface="Open Sauce"/>
                <a:sym typeface="Open Sauce"/>
              </a:rPr>
              <a:t>+91 8237906457</a:t>
            </a:r>
          </a:p>
          <a:p>
            <a:pPr algn="l">
              <a:lnSpc>
                <a:spcPts val="5596"/>
              </a:lnSpc>
            </a:pPr>
            <a:r>
              <a:rPr lang="en-US" sz="2798" spc="-55">
                <a:solidFill>
                  <a:srgbClr val="181D2B"/>
                </a:solidFill>
                <a:latin typeface="Open Sauce"/>
                <a:ea typeface="Open Sauce"/>
                <a:cs typeface="Open Sauce"/>
                <a:sym typeface="Open Sauce"/>
              </a:rPr>
              <a:t>GBP , GURUGRAM</a:t>
            </a:r>
          </a:p>
          <a:p>
            <a:pPr algn="l" marL="0" indent="0" lvl="0">
              <a:lnSpc>
                <a:spcPts val="5596"/>
              </a:lnSpc>
            </a:pPr>
            <a:r>
              <a:rPr lang="en-US" sz="2798" spc="-55">
                <a:solidFill>
                  <a:srgbClr val="181D2B"/>
                </a:solidFill>
                <a:latin typeface="Open Sauce"/>
                <a:ea typeface="Open Sauce"/>
                <a:cs typeface="Open Sauce"/>
                <a:sym typeface="Open Sauce"/>
              </a:rPr>
              <a:t>helpdesk@vajra.in</a:t>
            </a:r>
          </a:p>
        </p:txBody>
      </p:sp>
      <p:sp>
        <p:nvSpPr>
          <p:cNvPr name="TextBox 11" id="11"/>
          <p:cNvSpPr txBox="true"/>
          <p:nvPr/>
        </p:nvSpPr>
        <p:spPr>
          <a:xfrm rot="0">
            <a:off x="1028700" y="2891809"/>
            <a:ext cx="14152457" cy="868494"/>
          </a:xfrm>
          <a:prstGeom prst="rect">
            <a:avLst/>
          </a:prstGeom>
        </p:spPr>
        <p:txBody>
          <a:bodyPr anchor="t" rtlCol="false" tIns="0" lIns="0" bIns="0" rIns="0">
            <a:spAutoFit/>
          </a:bodyPr>
          <a:lstStyle/>
          <a:p>
            <a:pPr algn="l" marL="0" indent="0" lvl="0">
              <a:lnSpc>
                <a:spcPts val="3580"/>
              </a:lnSpc>
              <a:spcBef>
                <a:spcPct val="0"/>
              </a:spcBef>
            </a:pPr>
            <a:r>
              <a:rPr lang="en-US" sz="2557" spc="12" strike="noStrike" u="none">
                <a:solidFill>
                  <a:srgbClr val="181D2B"/>
                </a:solidFill>
                <a:latin typeface="Open Sauce"/>
                <a:ea typeface="Open Sauce"/>
                <a:cs typeface="Open Sauce"/>
                <a:sym typeface="Open Sauce"/>
              </a:rPr>
              <a:t>We appreciate your time and attention. For further inquiries or collaboration opportunities regarding the VAJRA - Security and Analysis project, please feel free to reach out to 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85800"/>
          </a:xfrm>
          <a:prstGeom prst="rect">
            <a:avLst/>
          </a:prstGeom>
          <a:noFill/>
        </p:spPr>
        <p:txBody>
          <a:bodyPr wrap="none">
            <a:spAutoFit/>
          </a:bodyPr>
          <a:lstStyle/>
          <a:p>
            <a:pPr>
              <a:defRPr sz="3600" b="1">
                <a:solidFill>
                  <a:srgbClr val="003366"/>
                </a:solidFill>
              </a:defRPr>
            </a:pPr>
            <a:r>
              <a:t>Ransomware Overview</a:t>
            </a:r>
          </a:p>
        </p:txBody>
      </p:sp>
      <p:sp>
        <p:nvSpPr>
          <p:cNvPr id="3" name="TextBox 2"/>
          <p:cNvSpPr txBox="1"/>
          <p:nvPr/>
        </p:nvSpPr>
        <p:spPr>
          <a:xfrm>
            <a:off x="457200" y="1371600"/>
            <a:ext cx="8229600" cy="4572000"/>
          </a:xfrm>
          <a:prstGeom prst="rect">
            <a:avLst/>
          </a:prstGeom>
          <a:noFill/>
        </p:spPr>
        <p:txBody>
          <a:bodyPr wrap="none">
            <a:spAutoFit/>
          </a:bodyPr>
          <a:lstStyle/>
          <a:p>
            <a:r>
              <a:t>Ransomware is a type of malicious software that encrypts files and demands payment for decryption.</a:t>
            </a:r>
          </a:p>
          <a:p>
            <a:pPr>
              <a:spcBef>
                <a:spcPts val="1200"/>
              </a:spcBef>
              <a:defRPr sz="2000" b="1"/>
            </a:pPr>
            <a:r>
              <a:t>Key Characteristics:</a:t>
            </a:r>
          </a:p>
          <a:p>
            <a:pPr lvl="1">
              <a:spcBef>
                <a:spcPts val="600"/>
              </a:spcBef>
              <a:defRPr sz="1600"/>
            </a:pPr>
            <a:r>
              <a:t>• File encryption with strong algorithms</a:t>
            </a:r>
          </a:p>
          <a:p>
            <a:pPr lvl="1">
              <a:spcBef>
                <a:spcPts val="600"/>
              </a:spcBef>
              <a:defRPr sz="1600"/>
            </a:pPr>
            <a:r>
              <a:t>• Ransom demand in cryptocurrency</a:t>
            </a:r>
          </a:p>
          <a:p>
            <a:pPr lvl="1">
              <a:spcBef>
                <a:spcPts val="600"/>
              </a:spcBef>
              <a:defRPr sz="1600"/>
            </a:pPr>
            <a:r>
              <a:t>• Time-sensitive payment deadlines</a:t>
            </a:r>
          </a:p>
          <a:p>
            <a:pPr lvl="1">
              <a:spcBef>
                <a:spcPts val="600"/>
              </a:spcBef>
              <a:defRPr sz="1600"/>
            </a:pPr>
            <a:r>
              <a:t>• Double extortion (encryption + data theft)</a:t>
            </a:r>
          </a:p>
          <a:p>
            <a:pPr lvl="1">
              <a:spcBef>
                <a:spcPts val="600"/>
              </a:spcBef>
              <a:defRPr sz="1600"/>
            </a:pPr>
            <a:r>
              <a:t>• Targeted attacks on organizations</a:t>
            </a:r>
          </a:p>
          <a:p>
            <a:pPr lvl="1">
              <a:spcBef>
                <a:spcPts val="600"/>
              </a:spcBef>
              <a:defRPr sz="1600"/>
            </a:pPr>
            <a:r>
              <a:t>• Ransomware-as-a-Service (RaaS)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85800"/>
          </a:xfrm>
          <a:prstGeom prst="rect">
            <a:avLst/>
          </a:prstGeom>
          <a:noFill/>
        </p:spPr>
        <p:txBody>
          <a:bodyPr wrap="none">
            <a:spAutoFit/>
          </a:bodyPr>
          <a:lstStyle/>
          <a:p>
            <a:pPr>
              <a:defRPr sz="3600" b="1">
                <a:solidFill>
                  <a:srgbClr val="003366"/>
                </a:solidFill>
              </a:defRPr>
            </a:pPr>
            <a:r>
              <a:t>Ransomware Statistics</a:t>
            </a:r>
          </a:p>
        </p:txBody>
      </p:sp>
      <p:sp>
        <p:nvSpPr>
          <p:cNvPr id="3" name="TextBox 2"/>
          <p:cNvSpPr txBox="1"/>
          <p:nvPr/>
        </p:nvSpPr>
        <p:spPr>
          <a:xfrm>
            <a:off x="457200" y="1371600"/>
            <a:ext cx="8229600" cy="4572000"/>
          </a:xfrm>
          <a:prstGeom prst="rect">
            <a:avLst/>
          </a:prstGeom>
          <a:noFill/>
        </p:spPr>
        <p:txBody>
          <a:bodyPr wrap="none">
            <a:spAutoFit/>
          </a:bodyPr>
          <a:lstStyle/>
          <a:p/>
          <a:p>
            <a:pPr>
              <a:spcBef>
                <a:spcPts val="800"/>
              </a:spcBef>
              <a:defRPr sz="1800"/>
            </a:pPr>
            <a:r>
              <a:t>• Average ransom payment: $812,000 (2023)</a:t>
            </a:r>
          </a:p>
          <a:p>
            <a:pPr>
              <a:spcBef>
                <a:spcPts val="800"/>
              </a:spcBef>
              <a:defRPr sz="1800"/>
            </a:pPr>
            <a:r>
              <a:t>• 37% of organizations hit by ransomware</a:t>
            </a:r>
          </a:p>
          <a:p>
            <a:pPr>
              <a:spcBef>
                <a:spcPts val="800"/>
              </a:spcBef>
              <a:defRPr sz="1800"/>
            </a:pPr>
            <a:r>
              <a:t>• Average downtime: 21 days</a:t>
            </a:r>
          </a:p>
          <a:p>
            <a:pPr>
              <a:spcBef>
                <a:spcPts val="800"/>
              </a:spcBef>
              <a:defRPr sz="1800"/>
            </a:pPr>
            <a:r>
              <a:t>• 66% of victims lose data permanently</a:t>
            </a:r>
          </a:p>
          <a:p>
            <a:pPr>
              <a:spcBef>
                <a:spcPts val="800"/>
              </a:spcBef>
              <a:defRPr sz="1800"/>
            </a:pPr>
            <a:r>
              <a:t>• Healthcare is most targeted industry</a:t>
            </a:r>
          </a:p>
          <a:p>
            <a:pPr>
              <a:spcBef>
                <a:spcPts val="800"/>
              </a:spcBef>
              <a:defRPr sz="1800"/>
            </a:pPr>
            <a:r>
              <a:t>• 4,000+ ransomware attacks daily (2023)</a:t>
            </a:r>
          </a:p>
          <a:p>
            <a:pPr>
              <a:spcBef>
                <a:spcPts val="800"/>
              </a:spcBef>
              <a:defRPr sz="1800"/>
            </a:pPr>
            <a:r>
              <a:t>• Total ransomware damages: $20 billion (2023)</a:t>
            </a:r>
          </a:p>
          <a:p>
            <a:pPr>
              <a:spcBef>
                <a:spcPts val="800"/>
              </a:spcBef>
              <a:defRPr sz="1800"/>
            </a:pPr>
            <a:r>
              <a:t>• 90% of attacks originate from phishing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85800"/>
          </a:xfrm>
          <a:prstGeom prst="rect">
            <a:avLst/>
          </a:prstGeom>
          <a:noFill/>
        </p:spPr>
        <p:txBody>
          <a:bodyPr wrap="none">
            <a:spAutoFit/>
          </a:bodyPr>
          <a:lstStyle/>
          <a:p>
            <a:pPr>
              <a:defRPr sz="3600" b="1">
                <a:solidFill>
                  <a:srgbClr val="003366"/>
                </a:solidFill>
              </a:defRPr>
            </a:pPr>
            <a:r>
              <a:t>Major Ransomware Groups</a:t>
            </a:r>
          </a:p>
        </p:txBody>
      </p:sp>
      <p:sp>
        <p:nvSpPr>
          <p:cNvPr id="3" name="TextBox 2"/>
          <p:cNvSpPr txBox="1"/>
          <p:nvPr/>
        </p:nvSpPr>
        <p:spPr>
          <a:xfrm>
            <a:off x="457200" y="1371600"/>
            <a:ext cx="8229600" cy="4572000"/>
          </a:xfrm>
          <a:prstGeom prst="rect">
            <a:avLst/>
          </a:prstGeom>
          <a:noFill/>
        </p:spPr>
        <p:txBody>
          <a:bodyPr wrap="none">
            <a:spAutoFit/>
          </a:bodyPr>
          <a:lstStyle/>
          <a:p/>
          <a:p>
            <a:pPr>
              <a:spcBef>
                <a:spcPts val="600"/>
              </a:spcBef>
              <a:defRPr sz="1600"/>
            </a:pPr>
            <a:r>
              <a:t>LockBit - Most active ransomware group (2023)</a:t>
            </a:r>
          </a:p>
          <a:p>
            <a:pPr>
              <a:spcBef>
                <a:spcPts val="600"/>
              </a:spcBef>
              <a:defRPr sz="1600"/>
            </a:pPr>
            <a:r>
              <a:t>BlackCat/ALPHV - Sophisticated RaaS platform</a:t>
            </a:r>
          </a:p>
          <a:p>
            <a:pPr>
              <a:spcBef>
                <a:spcPts val="600"/>
              </a:spcBef>
              <a:defRPr sz="1600"/>
            </a:pPr>
            <a:r>
              <a:t>Conti - Russian-speaking cybercrime group</a:t>
            </a:r>
          </a:p>
          <a:p>
            <a:pPr>
              <a:spcBef>
                <a:spcPts val="600"/>
              </a:spcBef>
              <a:defRPr sz="1600"/>
            </a:pPr>
            <a:r>
              <a:t>REvil/Sodinokibi - High-profile attacks</a:t>
            </a:r>
          </a:p>
          <a:p>
            <a:pPr>
              <a:spcBef>
                <a:spcPts val="600"/>
              </a:spcBef>
              <a:defRPr sz="1600"/>
            </a:pPr>
            <a:r>
              <a:t>DarkSide - Colonial Pipeline attack</a:t>
            </a:r>
          </a:p>
          <a:p>
            <a:pPr>
              <a:spcBef>
                <a:spcPts val="600"/>
              </a:spcBef>
              <a:defRPr sz="1600"/>
            </a:pPr>
            <a:r>
              <a:t>Hive - Healthcare sector targeting</a:t>
            </a:r>
          </a:p>
          <a:p>
            <a:pPr>
              <a:spcBef>
                <a:spcPts val="600"/>
              </a:spcBef>
              <a:defRPr sz="1600"/>
            </a:pPr>
            <a:r>
              <a:t>Karakurt - Data extortion specialist</a:t>
            </a:r>
          </a:p>
          <a:p>
            <a:pPr>
              <a:spcBef>
                <a:spcPts val="600"/>
              </a:spcBef>
              <a:defRPr sz="1600"/>
            </a:pPr>
            <a:r>
              <a:t>Lapsus$ - Teenage hacker group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85800"/>
          </a:xfrm>
          <a:prstGeom prst="rect">
            <a:avLst/>
          </a:prstGeom>
          <a:noFill/>
        </p:spPr>
        <p:txBody>
          <a:bodyPr wrap="none">
            <a:spAutoFit/>
          </a:bodyPr>
          <a:lstStyle/>
          <a:p>
            <a:pPr>
              <a:defRPr sz="3600" b="1">
                <a:solidFill>
                  <a:srgbClr val="003366"/>
                </a:solidFill>
              </a:defRPr>
            </a:pPr>
            <a:r>
              <a:t>Ransomware Attack Lifecycle</a:t>
            </a:r>
          </a:p>
        </p:txBody>
      </p:sp>
      <p:sp>
        <p:nvSpPr>
          <p:cNvPr id="3" name="TextBox 2"/>
          <p:cNvSpPr txBox="1"/>
          <p:nvPr/>
        </p:nvSpPr>
        <p:spPr>
          <a:xfrm>
            <a:off x="457200" y="1371600"/>
            <a:ext cx="8229600" cy="4572000"/>
          </a:xfrm>
          <a:prstGeom prst="rect">
            <a:avLst/>
          </a:prstGeom>
          <a:noFill/>
        </p:spPr>
        <p:txBody>
          <a:bodyPr wrap="none">
            <a:spAutoFit/>
          </a:bodyPr>
          <a:lstStyle/>
          <a:p/>
          <a:p>
            <a:pPr>
              <a:spcBef>
                <a:spcPts val="600"/>
              </a:spcBef>
              <a:defRPr sz="1600" b="1"/>
            </a:pPr>
            <a:r>
              <a:t>1. Initial Access - Phishing, RDP, VPN exploits</a:t>
            </a:r>
          </a:p>
          <a:p>
            <a:pPr>
              <a:spcBef>
                <a:spcPts val="600"/>
              </a:spcBef>
              <a:defRPr sz="1600"/>
            </a:pPr>
            <a:r>
              <a:t>2. Reconnaissance - Network mapping and privilege escalation</a:t>
            </a:r>
          </a:p>
          <a:p>
            <a:pPr>
              <a:spcBef>
                <a:spcPts val="600"/>
              </a:spcBef>
              <a:defRPr sz="1600"/>
            </a:pPr>
            <a:r>
              <a:t>3. Lateral Movement - Spreading across the network</a:t>
            </a:r>
          </a:p>
          <a:p>
            <a:pPr>
              <a:spcBef>
                <a:spcPts val="600"/>
              </a:spcBef>
              <a:defRPr sz="1600"/>
            </a:pPr>
            <a:r>
              <a:t>4. Data Exfiltration - Stealing sensitive data</a:t>
            </a:r>
          </a:p>
          <a:p>
            <a:pPr>
              <a:spcBef>
                <a:spcPts val="600"/>
              </a:spcBef>
              <a:defRPr sz="1600"/>
            </a:pPr>
            <a:r>
              <a:t>5. Encryption - Encrypting files and systems</a:t>
            </a:r>
          </a:p>
          <a:p>
            <a:pPr>
              <a:spcBef>
                <a:spcPts val="600"/>
              </a:spcBef>
              <a:defRPr sz="1600"/>
            </a:pPr>
            <a:r>
              <a:t>6. Ransom Note - Demanding payment</a:t>
            </a:r>
          </a:p>
          <a:p>
            <a:pPr>
              <a:spcBef>
                <a:spcPts val="600"/>
              </a:spcBef>
              <a:defRPr sz="1600"/>
            </a:pPr>
            <a:r>
              <a:t>7. Negotiation - Communication with victims</a:t>
            </a:r>
          </a:p>
          <a:p>
            <a:pPr>
              <a:spcBef>
                <a:spcPts val="600"/>
              </a:spcBef>
              <a:defRPr sz="1600"/>
            </a:pPr>
            <a:r>
              <a:t>8. Payment/Extortion - Final ransom demands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85800"/>
          </a:xfrm>
          <a:prstGeom prst="rect">
            <a:avLst/>
          </a:prstGeom>
          <a:noFill/>
        </p:spPr>
        <p:txBody>
          <a:bodyPr wrap="none">
            <a:spAutoFit/>
          </a:bodyPr>
          <a:lstStyle/>
          <a:p>
            <a:pPr>
              <a:defRPr sz="3600" b="1">
                <a:solidFill>
                  <a:srgbClr val="003366"/>
                </a:solidFill>
              </a:defRPr>
            </a:pPr>
            <a:r>
              <a:t>Ransomware Prevention</a:t>
            </a:r>
          </a:p>
        </p:txBody>
      </p:sp>
      <p:sp>
        <p:nvSpPr>
          <p:cNvPr id="3" name="TextBox 2"/>
          <p:cNvSpPr txBox="1"/>
          <p:nvPr/>
        </p:nvSpPr>
        <p:spPr>
          <a:xfrm>
            <a:off x="457200" y="1371600"/>
            <a:ext cx="8229600" cy="4572000"/>
          </a:xfrm>
          <a:prstGeom prst="rect">
            <a:avLst/>
          </a:prstGeom>
          <a:noFill/>
        </p:spPr>
        <p:txBody>
          <a:bodyPr wrap="none">
            <a:spAutoFit/>
          </a:bodyPr>
          <a:lstStyle/>
          <a:p/>
          <a:p>
            <a:pPr>
              <a:spcBef>
                <a:spcPts val="600"/>
              </a:spcBef>
              <a:defRPr sz="1600"/>
            </a:pPr>
            <a:r>
              <a:t>• Regular offline backups (3-2-1 rule)</a:t>
            </a:r>
          </a:p>
          <a:p>
            <a:pPr>
              <a:spcBef>
                <a:spcPts val="600"/>
              </a:spcBef>
              <a:defRPr sz="1600"/>
            </a:pPr>
            <a:r>
              <a:t>• Employee security awareness training</a:t>
            </a:r>
          </a:p>
          <a:p>
            <a:pPr>
              <a:spcBef>
                <a:spcPts val="600"/>
              </a:spcBef>
              <a:defRPr sz="1600"/>
            </a:pPr>
            <a:r>
              <a:t>• Multi-factor authentication (MFA)</a:t>
            </a:r>
          </a:p>
          <a:p>
            <a:pPr>
              <a:spcBef>
                <a:spcPts val="600"/>
              </a:spcBef>
              <a:defRPr sz="1600"/>
            </a:pPr>
            <a:r>
              <a:t>• Patch management and vulnerability scanning</a:t>
            </a:r>
          </a:p>
          <a:p>
            <a:pPr>
              <a:spcBef>
                <a:spcPts val="600"/>
              </a:spcBef>
              <a:defRPr sz="1600"/>
            </a:pPr>
            <a:r>
              <a:t>• Network segmentation and zero trust</a:t>
            </a:r>
          </a:p>
          <a:p>
            <a:pPr>
              <a:spcBef>
                <a:spcPts val="600"/>
              </a:spcBef>
              <a:defRPr sz="1600"/>
            </a:pPr>
            <a:r>
              <a:t>• Endpoint detection and response (EDR)</a:t>
            </a:r>
          </a:p>
          <a:p>
            <a:pPr>
              <a:spcBef>
                <a:spcPts val="600"/>
              </a:spcBef>
              <a:defRPr sz="1600"/>
            </a:pPr>
            <a:r>
              <a:t>• Email filtering and anti-phishing</a:t>
            </a:r>
          </a:p>
          <a:p>
            <a:pPr>
              <a:spcBef>
                <a:spcPts val="600"/>
              </a:spcBef>
              <a:defRPr sz="1600"/>
            </a:pPr>
            <a:r>
              <a:t>• Incident response planning and testing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85800"/>
          </a:xfrm>
          <a:prstGeom prst="rect">
            <a:avLst/>
          </a:prstGeom>
          <a:noFill/>
        </p:spPr>
        <p:txBody>
          <a:bodyPr wrap="none">
            <a:spAutoFit/>
          </a:bodyPr>
          <a:lstStyle/>
          <a:p>
            <a:pPr>
              <a:defRPr sz="3600" b="1">
                <a:solidFill>
                  <a:srgbClr val="003366"/>
                </a:solidFill>
              </a:defRPr>
            </a:pPr>
            <a:r>
              <a:t>VAJRA Ransomware Tracking</a:t>
            </a:r>
          </a:p>
        </p:txBody>
      </p:sp>
      <p:sp>
        <p:nvSpPr>
          <p:cNvPr id="3" name="TextBox 2"/>
          <p:cNvSpPr txBox="1"/>
          <p:nvPr/>
        </p:nvSpPr>
        <p:spPr>
          <a:xfrm>
            <a:off x="457200" y="1371600"/>
            <a:ext cx="8229600" cy="4572000"/>
          </a:xfrm>
          <a:prstGeom prst="rect">
            <a:avLst/>
          </a:prstGeom>
          <a:noFill/>
        </p:spPr>
        <p:txBody>
          <a:bodyPr wrap="none">
            <a:spAutoFit/>
          </a:bodyPr>
          <a:lstStyle/>
          <a:p>
            <a:r>
              <a:t>VAJRA Platform provides comprehensive ransomware tracking capabilities:</a:t>
            </a:r>
          </a:p>
          <a:p>
            <a:pPr>
              <a:spcBef>
                <a:spcPts val="1200"/>
              </a:spcBef>
              <a:defRPr sz="1800"/>
            </a:pPr>
            <a:r>
              <a:t>• Real-time ransomware incident tracking via Ransomware.live</a:t>
            </a:r>
          </a:p>
          <a:p>
            <a:pPr>
              <a:defRPr sz="1800"/>
            </a:pPr>
            <a:r>
              <a:t>• Ransomware group monitoring and statistics</a:t>
            </a:r>
          </a:p>
          <a:p>
            <a:pPr>
              <a:defRPr sz="1800"/>
            </a:pPr>
            <a:r>
              <a:t>• Geographic attack visualization</a:t>
            </a:r>
          </a:p>
          <a:p>
            <a:pPr>
              <a:defRPr sz="1800"/>
            </a:pPr>
            <a:r>
              <a:t>• Industry-specific ransomware impact analysis</a:t>
            </a:r>
          </a:p>
          <a:p>
            <a:pPr>
              <a:defRPr sz="1800"/>
            </a:pPr>
            <a:r>
              <a:t>• Ransomware trend analysis and forecasting</a:t>
            </a:r>
          </a:p>
          <a:p>
            <a:pPr>
              <a:defRPr sz="1800"/>
            </a:pPr>
            <a:r>
              <a:t>• PDF report generation for ransomware incidents</a:t>
            </a:r>
          </a:p>
          <a:p>
            <a:pPr>
              <a:defRPr sz="1800"/>
            </a:pPr>
            <a:r>
              <a:t>• Real-time alerts for new ransomware attacks</a:t>
            </a:r>
          </a:p>
          <a:p>
            <a:pPr>
              <a:defRPr sz="1800"/>
            </a:pPr>
            <a:r>
              <a:t>• Historical ransomware data and incident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DAHRfcfHoU8</dc:identifier>
  <dcterms:modified xsi:type="dcterms:W3CDTF">2011-08-01T06:04:30Z</dcterms:modified>
  <cp:revision>1</cp:revision>
  <dc:title>DATE - 06-08-2026</dc:title>
</cp:coreProperties>
</file>